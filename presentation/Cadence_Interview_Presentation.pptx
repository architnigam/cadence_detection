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business constraint. PII means personally identifiable information. We built a local demonstration; we did not integrate an external LLM. Explain that the deck has a main walkthrough and deeper interview reference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organizational chart can contain names and email addresses while a policy scan can hide identifiers in screenshots. A single regular expression on the visible document text would not cover both.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requirements, not achieved accuracy claims. The original brief asks for a 10–15 minute walkthrough. Use the deeper slides as backup when judges ask questions.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TPRM means third-party risk management. Native text is directly encoded text; a scanned image requires OCR. Word pagination is not fixed in XML, so we do not invent page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from left to right. Validation asks whether the file is legitimate and readable. Extraction asks whether the content was recovered. Detection finds sensitive spans. Redaction replaces them. Verification checks both content and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adapter translates between component contracts. Here it reconciles identifiers, confidence scales, metadata and findings. The legacy orchestrator has fail-closed stub tests; the real app and CLI inject actual adapters.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is a path or uploaded bytes. Output is a pipeline response plus restricted local context. SHA-based identifiers help maintain document identity. Missing stages, unsupported files and adapter failures must block release.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 means optical character recognition. PDFium renders pages and Tesseract recognizes text. A block stores text together with its source reference. On a chart, reading order may not fully preserve visual relationships; this needs manual comparison.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OOXML as the zipped XML package used by modern Word and PowerPoint. Source paths and table coordinates are useful even when a fixed page number is unavailable. Crops can help small screenshot text, but OCR still needs review.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NER is named-entity recognition, using spaCy and the local English model. Regex is useful for formatted identifiers but weak for names. Context reduces false positives, though heuristics and OCR noise can still cause errors.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PII from any number or capitalized phrase. An invoice amount is not automatically a bank account; a policy approval date is not automatically a DOB. The supported category list is not proof of complete global coverage.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synthetic teaching example, not a quotation from the supplied business evidence. Tokens are stable within a document. Exact offsets prevent masking unrelated text; identifiers are not shared across documents.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spans 2–8 and 6–12 must mask 2–12, not discard one span and expose its tail. Applying a replacement at the end first leaves earlier character indices unchanged. Invalid spans raise errors rather than being silently counted as masked.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failed OCR engine could otherwise produce empty text and falsely look safe. The gate combines content checks with evidence that required processing actually completed. It cannot prove that an unknown PII type was never present.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is served by a loopback-only Python server. No external assets or model requests are needed for uploads. Original inspection is intentionally restricted because it contains raw PII. Local demonstration controls are not a full internet deployment security model.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false positive is ordinary text marked sensitive. A false negative is a missed sensitive occurrence. Predictions must not be used as their own ground truth. The structure rubric is our proposed measurement method, not a formula specified in the brief.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counts are the local verification recorded on 14 October 2026. Synthetic accuracy is bounded to that fixture. The actual scanned policy and training document can remain quarantined because OCR or rescan issues require human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testing only valid fixtures would be misleading. Each class targets a way that sensitive data could slip through or the UI could falsely suggest approval. No finite suite covers every future document.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concrete before/after: an overlap could previously leave part of an identifier; union masking removes the whole range. Adapters resolved valid components disagreeing about formats. Distinguish initial role ownership from these integration fixes.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2–3 minutes. Do not promise that every provided file will approve. Start OCR-heavy jobs before presenting. If Python is not on PATH, use the workstation bundled Python command from the README. Keep real personal text off the projector when possible.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lower OCR thresholds merely to obtain an approval. The case goals remain targets until independent measurements support them. Photo and signature recognition is not implemented as a full visual PII system.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use an LLM for raw PII detection, return to the problem constraint: raw PII must be stripped before LLM processing. Local recognizers keep that boundary. Text-only output sacrifices original layout fidelity; be explicit about that limitation.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contributor should explain the code they actually own, without claiming every module. Mention a real failure case and the test that demonstrates it. Use the role labels rather than numbered people.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in thirty seconds. Invite questions on extraction, detector tradeoffs, the release gate or evaluation. Avoid saying the project guarantees 100% privacy.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Cadence: text analysis and PII detection</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A local document-review pipeline for financial-services evidence.</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The problem: personal information must be removed before document text reaches an AI model.</a:t>
            </a:r>
          </a:p>
          <a:p>
            <a:pPr>
              <a:spcAft>
                <a:spcPts val="1500"/>
              </a:spcAft>
              <a:defRPr sz="2100" b="0">
                <a:solidFill>
                  <a:srgbClr val="F5F5F0"/>
                </a:solidFill>
                <a:latin typeface="Calibri"/>
              </a:defRPr>
            </a:pPr>
            <a:r>
              <a:t>Our approach: extract, classify, mask, verify, then allow or block export.</a:t>
            </a:r>
          </a:p>
          <a:p>
            <a:pPr>
              <a:spcAft>
                <a:spcPts val="1500"/>
              </a:spcAft>
              <a:defRPr sz="2100" b="0">
                <a:solidFill>
                  <a:srgbClr val="F5F5F0"/>
                </a:solidFill>
                <a:latin typeface="Calibri"/>
              </a:defRPr>
            </a:pPr>
            <a:r>
              <a:t>Walkthrough: business need → design → component roles → demonstration → evidence.</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The problem we were given</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Useful business context must survive; personal details must not.</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Cadence employees use documents to support operational decisions.</a:t>
            </a:r>
          </a:p>
          <a:p>
            <a:pPr>
              <a:spcAft>
                <a:spcPts val="1500"/>
              </a:spcAft>
              <a:defRPr sz="2100" b="0">
                <a:solidFill>
                  <a:srgbClr val="F5F5F0"/>
                </a:solidFill>
                <a:latin typeface="Calibri"/>
              </a:defRPr>
            </a:pPr>
            <a:r>
              <a:t>Evidence arrives as scanned policies, organizational presentations and process documents.</a:t>
            </a:r>
          </a:p>
          <a:p>
            <a:pPr>
              <a:spcAft>
                <a:spcPts val="1500"/>
              </a:spcAft>
              <a:defRPr sz="2100" b="0">
                <a:solidFill>
                  <a:srgbClr val="F5F5F0"/>
                </a:solidFill>
                <a:latin typeface="Calibri"/>
              </a:defRPr>
            </a:pPr>
            <a:r>
              <a:t>The case requires repeatable extraction, PII classification and redaction before downstream AI processing.</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What the judges asked to see</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Five outcomes shape the design.</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Solution blueprint: the stages and data flow from upload to detection output.</a:t>
            </a:r>
          </a:p>
          <a:p>
            <a:pPr>
              <a:spcAft>
                <a:spcPts val="1500"/>
              </a:spcAft>
              <a:defRPr sz="2100" b="0">
                <a:solidFill>
                  <a:srgbClr val="F5F5F0"/>
                </a:solidFill>
                <a:latin typeface="Calibri"/>
              </a:defRPr>
            </a:pPr>
            <a:r>
              <a:t>System architecture: technical components and how they interact.</a:t>
            </a:r>
          </a:p>
          <a:p>
            <a:pPr>
              <a:spcAft>
                <a:spcPts val="1500"/>
              </a:spcAft>
              <a:defRPr sz="2100" b="0">
                <a:solidFill>
                  <a:srgbClr val="F5F5F0"/>
                </a:solidFill>
                <a:latin typeface="Calibri"/>
              </a:defRPr>
            </a:pPr>
            <a:r>
              <a:t>Extraction logic: how each format is read and PII is classified.</a:t>
            </a:r>
          </a:p>
          <a:p>
            <a:pPr>
              <a:spcAft>
                <a:spcPts val="1500"/>
              </a:spcAft>
              <a:defRPr sz="2100" b="0">
                <a:solidFill>
                  <a:srgbClr val="F5F5F0"/>
                </a:solidFill>
                <a:latin typeface="Calibri"/>
              </a:defRPr>
            </a:pPr>
            <a:r>
              <a:t>Reliable outcomes: ≥80% structure/context and near-complete PII coverage targets.</a:t>
            </a:r>
          </a:p>
          <a:p>
            <a:pPr>
              <a:spcAft>
                <a:spcPts val="1500"/>
              </a:spcAft>
              <a:defRPr sz="2100" b="0">
                <a:solidFill>
                  <a:srgbClr val="F5F5F0"/>
                </a:solidFill>
                <a:latin typeface="Calibri"/>
              </a:defRPr>
            </a:pPr>
            <a:r>
              <a:t>Live walkthrough: upload the actual artifacts and inspect the results.</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Three inputs, three extraction challenges</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The supplied files are the evidence, not interchangeable samples.</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Organizational PPTX: 9 slides with charts, directories and contact details.</a:t>
            </a:r>
          </a:p>
          <a:p>
            <a:pPr>
              <a:spcAft>
                <a:spcPts val="1500"/>
              </a:spcAft>
              <a:defRPr sz="2100" b="0">
                <a:solidFill>
                  <a:srgbClr val="F5F5F0"/>
                </a:solidFill>
                <a:latin typeface="Calibri"/>
              </a:defRPr>
            </a:pPr>
            <a:r>
              <a:t>Risk policy PDF: 35 scanned pages, including tables and embedded screenshots.</a:t>
            </a:r>
          </a:p>
          <a:p>
            <a:pPr>
              <a:spcAft>
                <a:spcPts val="1500"/>
              </a:spcAft>
              <a:defRPr sz="2100" b="0">
                <a:solidFill>
                  <a:srgbClr val="F5F5F0"/>
                </a:solidFill>
                <a:latin typeface="Calibri"/>
              </a:defRPr>
            </a:pPr>
            <a:r>
              <a:t>TPRM training DOCX: 16 tables and 41 media entries, including vector formats.</a:t>
            </a:r>
          </a:p>
          <a:p>
            <a:pPr>
              <a:spcAft>
                <a:spcPts val="1500"/>
              </a:spcAft>
              <a:defRPr sz="2100" b="0">
                <a:solidFill>
                  <a:srgbClr val="F5F5F0"/>
                </a:solidFill>
                <a:latin typeface="Calibri"/>
              </a:defRPr>
            </a:pPr>
            <a:r>
              <a:t>The shared difficulty is preserving relationships while reading all relevant text.</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The complete journey</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Every stage contributes evidence to the final release decision.</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Upload → Validate → Extract / OCR → Detect → Mask → Verify</a:t>
            </a:r>
          </a:p>
          <a:p>
            <a:pPr>
              <a:spcAft>
                <a:spcPts val="1500"/>
              </a:spcAft>
              <a:defRPr sz="2100" b="0">
                <a:solidFill>
                  <a:srgbClr val="F5F5F0"/>
                </a:solidFill>
                <a:latin typeface="Calibri"/>
              </a:defRPr>
            </a:pPr>
            <a:r>
              <a:t>PASS: download checked plain text.</a:t>
            </a:r>
          </a:p>
          <a:p>
            <a:pPr>
              <a:spcAft>
                <a:spcPts val="1500"/>
              </a:spcAft>
              <a:defRPr sz="2100" b="0">
                <a:solidFill>
                  <a:srgbClr val="F5F5F0"/>
                </a:solidFill>
                <a:latin typeface="Calibri"/>
              </a:defRPr>
            </a:pPr>
            <a:r>
              <a:t>REVIEW: inspect warnings locally; export remains blocked.</a:t>
            </a:r>
          </a:p>
          <a:p>
            <a:pPr>
              <a:spcAft>
                <a:spcPts val="1500"/>
              </a:spcAft>
              <a:defRPr sz="2100" b="0">
                <a:solidFill>
                  <a:srgbClr val="F5F5F0"/>
                </a:solidFill>
                <a:latin typeface="Calibri"/>
              </a:defRPr>
            </a:pPr>
            <a:r>
              <a:t>The original document and image bytes are not included in the text download.</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How the code fits together</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The runtime connects the merged components through explicit adapters.</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Browser + web.py → local session, upload, polling and download routes.</a:t>
            </a:r>
          </a:p>
          <a:p>
            <a:pPr>
              <a:spcAft>
                <a:spcPts val="1500"/>
              </a:spcAft>
              <a:defRPr sz="2100" b="0">
                <a:solidFill>
                  <a:srgbClr val="F5F5F0"/>
                </a:solidFill>
                <a:latin typeface="Calibri"/>
              </a:defRPr>
            </a:pPr>
            <a:r>
              <a:t>runtime.py + ingestion/orchestrator.py → validation, stage order and status.</a:t>
            </a:r>
          </a:p>
          <a:p>
            <a:pPr>
              <a:spcAft>
                <a:spcPts val="1500"/>
              </a:spcAft>
              <a:defRPr sz="2100" b="0">
                <a:solidFill>
                  <a:srgbClr val="F5F5F0"/>
                </a:solidFill>
                <a:latin typeface="Calibri"/>
              </a:defRPr>
            </a:pPr>
            <a:r>
              <a:t>extraction package → PDF / OOXML readers and local OCR.</a:t>
            </a:r>
          </a:p>
          <a:p>
            <a:pPr>
              <a:spcAft>
                <a:spcPts val="1500"/>
              </a:spcAft>
              <a:defRPr sz="2100" b="0">
                <a:solidFill>
                  <a:srgbClr val="F5F5F0"/>
                </a:solidFill>
                <a:latin typeface="Calibri"/>
              </a:defRPr>
            </a:pPr>
            <a:r>
              <a:t>comprehensive.py → local NER, contextual rules and validators.</a:t>
            </a:r>
          </a:p>
          <a:p>
            <a:pPr>
              <a:spcAft>
                <a:spcPts val="1500"/>
              </a:spcAft>
              <a:defRPr sz="2100" b="0">
                <a:solidFill>
                  <a:srgbClr val="F5F5F0"/>
                </a:solidFill>
                <a:latin typeface="Calibri"/>
              </a:defRPr>
            </a:pPr>
            <a:r>
              <a:t>redactor.py + gate.py → span masking, rescan and release decision.</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Role: platform and integration</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Make independent components behave as one predictable pipeline.</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Own the lifecycle: validation → extraction → detection → redaction → verification.</a:t>
            </a:r>
          </a:p>
          <a:p>
            <a:pPr>
              <a:spcAft>
                <a:spcPts val="1500"/>
              </a:spcAft>
              <a:defRPr sz="2100" b="0">
                <a:solidFill>
                  <a:srgbClr val="F5F5F0"/>
                </a:solidFill>
                <a:latin typeface="Calibri"/>
              </a:defRPr>
            </a:pPr>
            <a:r>
              <a:t>Normalize document IDs, block references, source locations and confidence values.</a:t>
            </a:r>
          </a:p>
          <a:p>
            <a:pPr>
              <a:spcAft>
                <a:spcPts val="1500"/>
              </a:spcAft>
              <a:defRPr sz="2100" b="0">
                <a:solidFill>
                  <a:srgbClr val="F5F5F0"/>
                </a:solidFill>
                <a:latin typeface="Calibri"/>
              </a:defRPr>
            </a:pPr>
            <a:r>
              <a:t>Carry warnings forward instead of turning incomplete work into a success.</a:t>
            </a:r>
          </a:p>
          <a:p>
            <a:pPr>
              <a:spcAft>
                <a:spcPts val="1500"/>
              </a:spcAft>
              <a:defRPr sz="2100" b="0">
                <a:solidFill>
                  <a:srgbClr val="F5F5F0"/>
                </a:solidFill>
                <a:latin typeface="Calibri"/>
              </a:defRPr>
            </a:pPr>
            <a:r>
              <a:t>Return one response contract for the browser, CLI and acceptance runner.</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Role: document extraction and OCR</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Recover text with enough location information to review it.</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Prefer native text; use local OCR for scans and embedded images.</a:t>
            </a:r>
          </a:p>
          <a:p>
            <a:pPr>
              <a:spcAft>
                <a:spcPts val="1500"/>
              </a:spcAft>
              <a:defRPr sz="2100" b="0">
                <a:solidFill>
                  <a:srgbClr val="F5F5F0"/>
                </a:solidFill>
                <a:latin typeface="Calibri"/>
              </a:defRPr>
            </a:pPr>
            <a:r>
              <a:t>Preserve ordered blocks, table indices, source paths and word boxes.</a:t>
            </a:r>
          </a:p>
          <a:p>
            <a:pPr>
              <a:spcAft>
                <a:spcPts val="1500"/>
              </a:spcAft>
              <a:defRPr sz="2100" b="0">
                <a:solidFill>
                  <a:srgbClr val="F5F5F0"/>
                </a:solidFill>
                <a:latin typeface="Calibri"/>
              </a:defRPr>
            </a:pPr>
            <a:r>
              <a:t>Handle supported SVG / EMF media through local conversion.</a:t>
            </a:r>
          </a:p>
          <a:p>
            <a:pPr>
              <a:spcAft>
                <a:spcPts val="1500"/>
              </a:spcAft>
              <a:defRPr sz="2100" b="0">
                <a:solidFill>
                  <a:srgbClr val="F5F5F0"/>
                </a:solidFill>
                <a:latin typeface="Calibri"/>
              </a:defRPr>
            </a:pPr>
            <a:r>
              <a:t>Report unreadable regions, low confidence and incomplete extraction.</a:t>
            </a:r>
          </a:p>
          <a:p>
            <a:pPr>
              <a:spcAft>
                <a:spcPts val="1500"/>
              </a:spcAft>
              <a:defRPr sz="2100" b="0">
                <a:solidFill>
                  <a:srgbClr val="F5F5F0"/>
                </a:solidFill>
                <a:latin typeface="Calibri"/>
              </a:defRPr>
            </a:pPr>
            <a:r>
              <a:t>Do not equate “page processed” with “all information recovered”.</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Extraction differs by format</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The reader follows the file structure rather than treating every file as a page.</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PDF: recover native text where available; render and OCR scanned content.</a:t>
            </a:r>
          </a:p>
          <a:p>
            <a:pPr>
              <a:spcAft>
                <a:spcPts val="1500"/>
              </a:spcAft>
              <a:defRPr sz="2100" b="0">
                <a:solidFill>
                  <a:srgbClr val="F5F5F0"/>
                </a:solidFill>
                <a:latin typeface="Calibri"/>
              </a:defRPr>
            </a:pPr>
            <a:r>
              <a:t>PPTX: inspect shapes, tables, notes and relevant packaged media.</a:t>
            </a:r>
          </a:p>
          <a:p>
            <a:pPr>
              <a:spcAft>
                <a:spcPts val="1500"/>
              </a:spcAft>
              <a:defRPr sz="2100" b="0">
                <a:solidFill>
                  <a:srgbClr val="F5F5F0"/>
                </a:solidFill>
                <a:latin typeface="Calibri"/>
              </a:defRPr>
            </a:pPr>
            <a:r>
              <a:t>DOCX: inspect paragraphs, tables, headers / footers and embedded media.</a:t>
            </a:r>
          </a:p>
          <a:p>
            <a:pPr>
              <a:spcAft>
                <a:spcPts val="1500"/>
              </a:spcAft>
              <a:defRPr sz="2100" b="0">
                <a:solidFill>
                  <a:srgbClr val="F5F5F0"/>
                </a:solidFill>
                <a:latin typeface="Calibri"/>
              </a:defRPr>
            </a:pPr>
            <a:r>
              <a:t>Keep neighboring context and exact text offsets for later detection.</a:t>
            </a:r>
          </a:p>
          <a:p>
            <a:pPr>
              <a:spcAft>
                <a:spcPts val="1500"/>
              </a:spcAft>
              <a:defRPr sz="2100" b="0">
                <a:solidFill>
                  <a:srgbClr val="F5F5F0"/>
                </a:solidFill>
                <a:latin typeface="Calibri"/>
              </a:defRPr>
            </a:pPr>
            <a:r>
              <a:t>Retain warnings when conversion or recognition is uncertain.</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Role: PII detection and classification</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Use several signals because personal information has different shapes.</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Local named-entity recognition identifies likely people in natural language.</a:t>
            </a:r>
          </a:p>
          <a:p>
            <a:pPr>
              <a:spcAft>
                <a:spcPts val="1500"/>
              </a:spcAft>
              <a:defRPr sz="2100" b="0">
                <a:solidFill>
                  <a:srgbClr val="F5F5F0"/>
                </a:solidFill>
                <a:latin typeface="Calibri"/>
              </a:defRPr>
            </a:pPr>
            <a:r>
              <a:t>Contextual rules identify labels, contact details and organization-specific IDs.</a:t>
            </a:r>
          </a:p>
          <a:p>
            <a:pPr>
              <a:spcAft>
                <a:spcPts val="1500"/>
              </a:spcAft>
              <a:defRPr sz="2100" b="0">
                <a:solidFill>
                  <a:srgbClr val="F5F5F0"/>
                </a:solidFill>
                <a:latin typeface="Calibri"/>
              </a:defRPr>
            </a:pPr>
            <a:r>
              <a:t>Validators check dates and payment-card checksums where applicable.</a:t>
            </a:r>
          </a:p>
          <a:p>
            <a:pPr>
              <a:spcAft>
                <a:spcPts val="1500"/>
              </a:spcAft>
              <a:defRPr sz="2100" b="0">
                <a:solidFill>
                  <a:srgbClr val="F5F5F0"/>
                </a:solidFill>
                <a:latin typeface="Calibri"/>
              </a:defRPr>
            </a:pPr>
            <a:r>
              <a:t>Document-local aliases connect repeated names and initials.</a:t>
            </a:r>
          </a:p>
          <a:p>
            <a:pPr>
              <a:spcAft>
                <a:spcPts val="1500"/>
              </a:spcAft>
              <a:defRPr sz="2100" b="0">
                <a:solidFill>
                  <a:srgbClr val="F5F5F0"/>
                </a:solidFill>
                <a:latin typeface="Calibri"/>
              </a:defRPr>
            </a:pPr>
            <a:r>
              <a:t>Each finding keeps a type, block reference and exact character span.</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What we classify</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Fourteen categories cover the implemented text recognizers.</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Identity: person, employee ID, director ID, vendor-person ID.</a:t>
            </a:r>
          </a:p>
          <a:p>
            <a:pPr>
              <a:spcAft>
                <a:spcPts val="1500"/>
              </a:spcAft>
              <a:defRPr sz="2100" b="0">
                <a:solidFill>
                  <a:srgbClr val="F5F5F0"/>
                </a:solidFill>
                <a:latin typeface="Calibri"/>
              </a:defRPr>
            </a:pPr>
            <a:r>
              <a:t>Contact: email, phone, home address.</a:t>
            </a:r>
          </a:p>
          <a:p>
            <a:pPr>
              <a:spcAft>
                <a:spcPts val="1500"/>
              </a:spcAft>
              <a:defRPr sz="2100" b="0">
                <a:solidFill>
                  <a:srgbClr val="F5F5F0"/>
                </a:solidFill>
                <a:latin typeface="Calibri"/>
              </a:defRPr>
            </a:pPr>
            <a:r>
              <a:t>Personal: date of birth, national ID, tax ID, passport.</a:t>
            </a:r>
          </a:p>
          <a:p>
            <a:pPr>
              <a:spcAft>
                <a:spcPts val="1500"/>
              </a:spcAft>
              <a:defRPr sz="2100" b="0">
                <a:solidFill>
                  <a:srgbClr val="F5F5F0"/>
                </a:solidFill>
                <a:latin typeface="Calibri"/>
              </a:defRPr>
            </a:pPr>
            <a:r>
              <a:t>Financial: bank account, payment card, partial identifier.</a:t>
            </a:r>
          </a:p>
          <a:p>
            <a:pPr>
              <a:spcAft>
                <a:spcPts val="1500"/>
              </a:spcAft>
              <a:defRPr sz="2100" b="0">
                <a:solidFill>
                  <a:srgbClr val="F5F5F0"/>
                </a:solidFill>
                <a:latin typeface="Calibri"/>
              </a:defRPr>
            </a:pPr>
            <a:r>
              <a:t>Repeated mentions count separately; business dates and control IDs are negative examples.</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One example from text to checked output</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Synthetic example: keep the action, remove the identity.</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INPUT   Contact Noor Example at noor@example.invalid for the review.</a:t>
            </a:r>
          </a:p>
          <a:p>
            <a:pPr>
              <a:spcAft>
                <a:spcPts val="1500"/>
              </a:spcAft>
              <a:defRPr sz="2100" b="0">
                <a:solidFill>
                  <a:srgbClr val="F5F5F0"/>
                </a:solidFill>
                <a:latin typeface="Calibri"/>
              </a:defRPr>
            </a:pPr>
            <a:r>
              <a:t>FIND    PERSON: Noor Example | EMAIL: noor@example.invalid</a:t>
            </a:r>
          </a:p>
          <a:p>
            <a:pPr>
              <a:spcAft>
                <a:spcPts val="1500"/>
              </a:spcAft>
              <a:defRPr sz="2100" b="0">
                <a:solidFill>
                  <a:srgbClr val="F5F5F0"/>
                </a:solidFill>
                <a:latin typeface="Calibri"/>
              </a:defRPr>
            </a:pPr>
            <a:r>
              <a:t>MASK    Contact [PERSON_1] at [EMAIL_1] for the review.</a:t>
            </a:r>
          </a:p>
          <a:p>
            <a:pPr>
              <a:spcAft>
                <a:spcPts val="1500"/>
              </a:spcAft>
              <a:defRPr sz="2100" b="0">
                <a:solidFill>
                  <a:srgbClr val="F5F5F0"/>
                </a:solidFill>
                <a:latin typeface="Calibri"/>
              </a:defRPr>
            </a:pPr>
            <a:r>
              <a:t>CHECK   Rescan the result and check known sensitive spans were removed.</a:t>
            </a:r>
          </a:p>
          <a:p>
            <a:pPr>
              <a:spcAft>
                <a:spcPts val="1500"/>
              </a:spcAft>
              <a:defRPr sz="2100" b="0">
                <a:solidFill>
                  <a:srgbClr val="F5F5F0"/>
                </a:solidFill>
                <a:latin typeface="Calibri"/>
              </a:defRPr>
            </a:pPr>
            <a:r>
              <a:t>RESULT  The review instruction remains understandable.</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Role: redaction and release controls</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A finding is only useful if masking cannot leave a sensitive tail behind.</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Validate span types, bounds, confidence and document / block identity.</a:t>
            </a:r>
          </a:p>
          <a:p>
            <a:pPr>
              <a:spcAft>
                <a:spcPts val="1500"/>
              </a:spcAft>
              <a:defRPr sz="2100" b="0">
                <a:solidFill>
                  <a:srgbClr val="F5F5F0"/>
                </a:solidFill>
                <a:latin typeface="Calibri"/>
              </a:defRPr>
            </a:pPr>
            <a:r>
              <a:t>Merge crossing and transitive overlaps into their full covered range.</a:t>
            </a:r>
          </a:p>
          <a:p>
            <a:pPr>
              <a:spcAft>
                <a:spcPts val="1500"/>
              </a:spcAft>
              <a:defRPr sz="2100" b="0">
                <a:solidFill>
                  <a:srgbClr val="F5F5F0"/>
                </a:solidFill>
                <a:latin typeface="Calibri"/>
              </a:defRPr>
            </a:pPr>
            <a:r>
              <a:t>Apply replacements from right to left to preserve original offsets.</a:t>
            </a:r>
          </a:p>
          <a:p>
            <a:pPr>
              <a:spcAft>
                <a:spcPts val="1500"/>
              </a:spcAft>
              <a:defRPr sz="2100" b="0">
                <a:solidFill>
                  <a:srgbClr val="F5F5F0"/>
                </a:solidFill>
                <a:latin typeface="Calibri"/>
              </a:defRPr>
            </a:pPr>
            <a:r>
              <a:t>Keep typed placeholders consistent within the document.</a:t>
            </a:r>
          </a:p>
          <a:p>
            <a:pPr>
              <a:spcAft>
                <a:spcPts val="1500"/>
              </a:spcAft>
              <a:defRPr sz="2100" b="0">
                <a:solidFill>
                  <a:srgbClr val="F5F5F0"/>
                </a:solidFill>
                <a:latin typeface="Calibri"/>
              </a:defRPr>
            </a:pPr>
            <a:r>
              <a:t>Exclude reversible mappings and raw OCR metadata from public results.</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The release gate</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“No findings” is not enough to approve a document.</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Rescan masked text with the integrated detector and independent patterns.</a:t>
            </a:r>
          </a:p>
          <a:p>
            <a:pPr>
              <a:spcAft>
                <a:spcPts val="1500"/>
              </a:spcAft>
              <a:defRPr sz="2100" b="0">
                <a:solidFill>
                  <a:srgbClr val="F5F5F0"/>
                </a:solidFill>
                <a:latin typeface="Calibri"/>
              </a:defRPr>
            </a:pPr>
            <a:r>
              <a:t>Check known original sensitive spans for surviving values.</a:t>
            </a:r>
          </a:p>
          <a:p>
            <a:pPr>
              <a:spcAft>
                <a:spcPts val="1500"/>
              </a:spcAft>
              <a:defRPr sz="2100" b="0">
                <a:solidFill>
                  <a:srgbClr val="F5F5F0"/>
                </a:solidFill>
                <a:latin typeface="Calibri"/>
              </a:defRPr>
            </a:pPr>
            <a:r>
              <a:t>Require complete extraction, available recognizers and acceptable quality.</a:t>
            </a:r>
          </a:p>
          <a:p>
            <a:pPr>
              <a:spcAft>
                <a:spcPts val="1500"/>
              </a:spcAft>
              <a:defRPr sz="2100" b="0">
                <a:solidFill>
                  <a:srgbClr val="F5F5F0"/>
                </a:solidFill>
                <a:latin typeface="Calibri"/>
              </a:defRPr>
            </a:pPr>
            <a:r>
              <a:t>Block downloads for unresolved PII, missing models or incomplete content.</a:t>
            </a:r>
          </a:p>
          <a:p>
            <a:pPr>
              <a:spcAft>
                <a:spcPts val="1500"/>
              </a:spcAft>
              <a:defRPr sz="2100" b="0">
                <a:solidFill>
                  <a:srgbClr val="F5F5F0"/>
                </a:solidFill>
                <a:latin typeface="Calibri"/>
              </a:defRPr>
            </a:pPr>
            <a:r>
              <a:t>Keep a local preview available so a reviewer can investigate.</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Role: application and reviewer experience</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Show enough information for a person to understand the decision.</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Upload a real PDF, PPTX or DOCX, with a 50 MB limit.</a:t>
            </a:r>
          </a:p>
          <a:p>
            <a:pPr>
              <a:spcAft>
                <a:spcPts val="1500"/>
              </a:spcAft>
              <a:defRPr sz="2100" b="0">
                <a:solidFill>
                  <a:srgbClr val="F5F5F0"/>
                </a:solidFill>
                <a:latin typeface="Calibri"/>
              </a:defRPr>
            </a:pPr>
            <a:r>
              <a:t>Follow stage progress; inspect categories, locations and masked text.</a:t>
            </a:r>
          </a:p>
          <a:p>
            <a:pPr>
              <a:spcAft>
                <a:spcPts val="1500"/>
              </a:spcAft>
              <a:defRPr sz="2100" b="0">
                <a:solidFill>
                  <a:srgbClr val="F5F5F0"/>
                </a:solidFill>
                <a:latin typeface="Calibri"/>
              </a:defRPr>
            </a:pPr>
            <a:r>
              <a:t>Expand extraction notes and original-text inspection only when needed.</a:t>
            </a:r>
          </a:p>
          <a:p>
            <a:pPr>
              <a:spcAft>
                <a:spcPts val="1500"/>
              </a:spcAft>
              <a:defRPr sz="2100" b="0">
                <a:solidFill>
                  <a:srgbClr val="F5F5F0"/>
                </a:solidFill>
                <a:latin typeface="Calibri"/>
              </a:defRPr>
            </a:pPr>
            <a:r>
              <a:t>Enable checked-text download only for approved jobs.</a:t>
            </a:r>
          </a:p>
          <a:p>
            <a:pPr>
              <a:spcAft>
                <a:spcPts val="1500"/>
              </a:spcAft>
              <a:defRPr sz="2100" b="0">
                <a:solidFill>
                  <a:srgbClr val="F5F5F0"/>
                </a:solidFill>
                <a:latin typeface="Calibri"/>
              </a:defRPr>
            </a:pPr>
            <a:r>
              <a:t>Use a local session token and validate host / origin on API requests.</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Role: evaluation and quality assurance</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Measure the result against labels that were created independently.</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Precision = correct detections / all detections.</a:t>
            </a:r>
          </a:p>
          <a:p>
            <a:pPr>
              <a:spcAft>
                <a:spcPts val="1500"/>
              </a:spcAft>
              <a:defRPr sz="2100" b="0">
                <a:solidFill>
                  <a:srgbClr val="F5F5F0"/>
                </a:solidFill>
                <a:latin typeface="Calibri"/>
              </a:defRPr>
            </a:pPr>
            <a:r>
              <a:t>Recall = correct detections / all labeled sensitive occurrences.</a:t>
            </a:r>
          </a:p>
          <a:p>
            <a:pPr>
              <a:spcAft>
                <a:spcPts val="1500"/>
              </a:spcAft>
              <a:defRPr sz="2100" b="0">
                <a:solidFill>
                  <a:srgbClr val="F5F5F0"/>
                </a:solidFill>
                <a:latin typeface="Calibri"/>
              </a:defRPr>
            </a:pPr>
            <a:r>
              <a:t>F1 balances precision and recall; exact matching checks type and span.</a:t>
            </a:r>
          </a:p>
          <a:p>
            <a:pPr>
              <a:spcAft>
                <a:spcPts val="1500"/>
              </a:spcAft>
              <a:defRPr sz="2100" b="0">
                <a:solidFill>
                  <a:srgbClr val="F5F5F0"/>
                </a:solidFill>
                <a:latin typeface="Calibri"/>
              </a:defRPr>
            </a:pPr>
            <a:r>
              <a:t>Structure review checks headings, order, tables and neighboring context.</a:t>
            </a:r>
          </a:p>
          <a:p>
            <a:pPr>
              <a:spcAft>
                <a:spcPts val="1500"/>
              </a:spcAft>
              <a:defRPr sz="2100" b="0">
                <a:solidFill>
                  <a:srgbClr val="F5F5F0"/>
                </a:solidFill>
                <a:latin typeface="Calibri"/>
              </a:defRPr>
            </a:pPr>
            <a:r>
              <a:t>Report the dataset, denominator and known limitations with every claim.</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What the tests currently establish</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Passing checks support specific claims, not universal accuracy.</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288 regression tests passed, with no failures, errors or skips.</a:t>
            </a:r>
          </a:p>
          <a:p>
            <a:pPr>
              <a:spcAft>
                <a:spcPts val="1500"/>
              </a:spcAft>
              <a:defRPr sz="2100" b="0">
                <a:solidFill>
                  <a:srgbClr val="F5F5F0"/>
                </a:solidFill>
                <a:latin typeface="Calibri"/>
              </a:defRPr>
            </a:pPr>
            <a:r>
              <a:t>12 acceptance checks passed for valid and invalid file workflows.</a:t>
            </a:r>
          </a:p>
          <a:p>
            <a:pPr>
              <a:spcAft>
                <a:spcPts val="1500"/>
              </a:spcAft>
              <a:defRPr sz="2100" b="0">
                <a:solidFill>
                  <a:srgbClr val="F5F5F0"/>
                </a:solidFill>
                <a:latin typeface="Calibri"/>
              </a:defRPr>
            </a:pPr>
            <a:r>
              <a:t>The labeled synthetic fixture: 18/18 exact matches, zero false positives.</a:t>
            </a:r>
          </a:p>
          <a:p>
            <a:pPr>
              <a:spcAft>
                <a:spcPts val="1500"/>
              </a:spcAft>
              <a:defRPr sz="2100" b="0">
                <a:solidFill>
                  <a:srgbClr val="F5F5F0"/>
                </a:solidFill>
                <a:latin typeface="Calibri"/>
              </a:defRPr>
            </a:pPr>
            <a:r>
              <a:t>Browser checks verified upload, progress, download and blocked export.</a:t>
            </a:r>
          </a:p>
          <a:p>
            <a:pPr>
              <a:spcAft>
                <a:spcPts val="1500"/>
              </a:spcAft>
              <a:defRPr sz="2100" b="0">
                <a:solidFill>
                  <a:srgbClr val="F5F5F0"/>
                </a:solidFill>
                <a:latin typeface="Calibri"/>
              </a:defRPr>
            </a:pPr>
            <a:r>
              <a:t>Full-source recall and ≥80% structure still require independent review.</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The cases we deliberately challenge</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Test failure paths as carefully as the happy path.</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Files: valid, empty, corrupt, encrypted, unsupported and mismatched type.</a:t>
            </a:r>
          </a:p>
          <a:p>
            <a:pPr>
              <a:spcAft>
                <a:spcPts val="1500"/>
              </a:spcAft>
              <a:defRPr sz="2100" b="0">
                <a:solidFill>
                  <a:srgbClr val="F5F5F0"/>
                </a:solidFill>
                <a:latin typeface="Calibri"/>
              </a:defRPr>
            </a:pPr>
            <a:r>
              <a:t>Detection: Unicode offsets, aliases, repeated mentions and business negatives.</a:t>
            </a:r>
          </a:p>
          <a:p>
            <a:pPr>
              <a:spcAft>
                <a:spcPts val="1500"/>
              </a:spcAft>
              <a:defRPr sz="2100" b="0">
                <a:solidFill>
                  <a:srgbClr val="F5F5F0"/>
                </a:solidFill>
                <a:latin typeface="Calibri"/>
              </a:defRPr>
            </a:pPr>
            <a:r>
              <a:t>Masking: invalid spans, overlapping ranges and immutable findings.</a:t>
            </a:r>
          </a:p>
          <a:p>
            <a:pPr>
              <a:spcAft>
                <a:spcPts val="1500"/>
              </a:spcAft>
              <a:defRPr sz="2100" b="0">
                <a:solidFill>
                  <a:srgbClr val="F5F5F0"/>
                </a:solidFill>
                <a:latin typeface="Calibri"/>
              </a:defRPr>
            </a:pPr>
            <a:r>
              <a:t>Gate: missing NER, incomplete extraction and residual identifiers.</a:t>
            </a:r>
          </a:p>
          <a:p>
            <a:pPr>
              <a:spcAft>
                <a:spcPts val="1500"/>
              </a:spcAft>
              <a:defRPr sz="2100" b="0">
                <a:solidFill>
                  <a:srgbClr val="F5F5F0"/>
                </a:solidFill>
                <a:latin typeface="Calibri"/>
              </a:defRPr>
            </a:pPr>
            <a:r>
              <a:t>Web: unauthorized access, cross-origin requests and blocked downloads.</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What changed during integration</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The difficult work was joining real behavior and preserving failure evidence.</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Connected real readers and recognizers instead of a fixture-only flow.</a:t>
            </a:r>
          </a:p>
          <a:p>
            <a:pPr>
              <a:spcAft>
                <a:spcPts val="1500"/>
              </a:spcAft>
              <a:defRPr sz="2100" b="0">
                <a:solidFill>
                  <a:srgbClr val="F5F5F0"/>
                </a:solidFill>
                <a:latin typeface="Calibri"/>
              </a:defRPr>
            </a:pPr>
            <a:r>
              <a:t>Translated confidence scales and normalized IDs across component boundaries.</a:t>
            </a:r>
          </a:p>
          <a:p>
            <a:pPr>
              <a:spcAft>
                <a:spcPts val="1500"/>
              </a:spcAft>
              <a:defRPr sz="2100" b="0">
                <a:solidFill>
                  <a:srgbClr val="F5F5F0"/>
                </a:solidFill>
                <a:latin typeface="Calibri"/>
              </a:defRPr>
            </a:pPr>
            <a:r>
              <a:t>Fixed overlap masking, invalid spans and raw metadata exposure.</a:t>
            </a:r>
          </a:p>
          <a:p>
            <a:pPr>
              <a:spcAft>
                <a:spcPts val="1500"/>
              </a:spcAft>
              <a:defRPr sz="2100" b="0">
                <a:solidFill>
                  <a:srgbClr val="F5F5F0"/>
                </a:solidFill>
                <a:latin typeface="Calibri"/>
              </a:defRPr>
            </a:pPr>
            <a:r>
              <a:t>Expanded verification beyond simple email and phone patterns.</a:t>
            </a:r>
          </a:p>
          <a:p>
            <a:pPr>
              <a:spcAft>
                <a:spcPts val="1500"/>
              </a:spcAft>
              <a:defRPr sz="2100" b="0">
                <a:solidFill>
                  <a:srgbClr val="F5F5F0"/>
                </a:solidFill>
                <a:latin typeface="Calibri"/>
              </a:defRPr>
            </a:pPr>
            <a:r>
              <a:t>Made missing dependencies and incomplete extraction block export.</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Live demonstration</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Show one approved path and one review path.</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Start: python scripts/run_app.py --port 8767.</a:t>
            </a:r>
          </a:p>
          <a:p>
            <a:pPr>
              <a:spcAft>
                <a:spcPts val="1500"/>
              </a:spcAft>
              <a:defRPr sz="2100" b="0">
                <a:solidFill>
                  <a:srgbClr val="F5F5F0"/>
                </a:solidFill>
                <a:latin typeface="Calibri"/>
              </a:defRPr>
            </a:pPr>
            <a:r>
              <a:t>Open http://127.0.0.1:8767 and upload the organizational PPTX.</a:t>
            </a:r>
          </a:p>
          <a:p>
            <a:pPr>
              <a:spcAft>
                <a:spcPts val="1500"/>
              </a:spcAft>
              <a:defRPr sz="2100" b="0">
                <a:solidFill>
                  <a:srgbClr val="F5F5F0"/>
                </a:solidFill>
                <a:latin typeface="Calibri"/>
              </a:defRPr>
            </a:pPr>
            <a:r>
              <a:t>Explain a detected type, its location and its masked text.</a:t>
            </a:r>
          </a:p>
          <a:p>
            <a:pPr>
              <a:spcAft>
                <a:spcPts val="1500"/>
              </a:spcAft>
              <a:defRPr sz="2100" b="0">
                <a:solidFill>
                  <a:srgbClr val="F5F5F0"/>
                </a:solidFill>
                <a:latin typeface="Calibri"/>
              </a:defRPr>
            </a:pPr>
            <a:r>
              <a:t>Show checked download when approved; then show a blocked review case.</a:t>
            </a:r>
          </a:p>
          <a:p>
            <a:pPr>
              <a:spcAft>
                <a:spcPts val="1500"/>
              </a:spcAft>
              <a:defRPr sz="2100" b="0">
                <a:solidFill>
                  <a:srgbClr val="F5F5F0"/>
                </a:solidFill>
                <a:latin typeface="Calibri"/>
              </a:defRPr>
            </a:pPr>
            <a:r>
              <a:t>For long scans, prepare a completed real run and disclose that it is pre-run.</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Limits and next steps</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The remaining work is evidence and review, not a claim of perfect detection.</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Adjudicate full-source PII labels and inspect missed / false detections.</a:t>
            </a:r>
          </a:p>
          <a:p>
            <a:pPr>
              <a:spcAft>
                <a:spcPts val="1500"/>
              </a:spcAft>
              <a:defRPr sz="2100" b="0">
                <a:solidFill>
                  <a:srgbClr val="F5F5F0"/>
                </a:solidFill>
                <a:latin typeface="Calibri"/>
              </a:defRPr>
            </a:pPr>
            <a:r>
              <a:t>Score structure against original pages, charts and table relationships.</a:t>
            </a:r>
          </a:p>
          <a:p>
            <a:pPr>
              <a:spcAft>
                <a:spcPts val="1500"/>
              </a:spcAft>
              <a:defRPr sz="2100" b="0">
                <a:solidFill>
                  <a:srgbClr val="F5F5F0"/>
                </a:solidFill>
                <a:latin typeface="Calibri"/>
              </a:defRPr>
            </a:pPr>
            <a:r>
              <a:t>Improve OCR for small screenshots and unfamiliar document layouts.</a:t>
            </a:r>
          </a:p>
          <a:p>
            <a:pPr>
              <a:spcAft>
                <a:spcPts val="1500"/>
              </a:spcAft>
              <a:defRPr sz="2100" b="0">
                <a:solidFill>
                  <a:srgbClr val="F5F5F0"/>
                </a:solidFill>
                <a:latin typeface="Calibri"/>
              </a:defRPr>
            </a:pPr>
            <a:r>
              <a:t>Text export excludes visual PII; original-file redaction is a separate feature.</a:t>
            </a:r>
          </a:p>
          <a:p>
            <a:pPr>
              <a:spcAft>
                <a:spcPts val="1500"/>
              </a:spcAft>
              <a:defRPr sz="2100" b="0">
                <a:solidFill>
                  <a:srgbClr val="F5F5F0"/>
                </a:solidFill>
                <a:latin typeface="Calibri"/>
              </a:defRPr>
            </a:pPr>
            <a:r>
              <a:t>Production hosting needs authentication, TLS, isolation and retention controls.</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Text analysis and PII detection | Interview walkthrough</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Interview reference: why these choices?</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Explain the tradeoff, then give a concrete example.</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Why local? Raw evidence stays on the workstation.</a:t>
            </a:r>
          </a:p>
          <a:p>
            <a:pPr>
              <a:spcAft>
                <a:spcPts val="1500"/>
              </a:spcAft>
              <a:defRPr sz="2100" b="0">
                <a:solidFill>
                  <a:srgbClr val="F5F5F0"/>
                </a:solidFill>
                <a:latin typeface="Calibri"/>
              </a:defRPr>
            </a:pPr>
            <a:r>
              <a:t>Why native text first? It avoids unnecessary OCR errors.</a:t>
            </a:r>
          </a:p>
          <a:p>
            <a:pPr>
              <a:spcAft>
                <a:spcPts val="1500"/>
              </a:spcAft>
              <a:defRPr sz="2100" b="0">
                <a:solidFill>
                  <a:srgbClr val="F5F5F0"/>
                </a:solidFill>
                <a:latin typeface="Calibri"/>
              </a:defRPr>
            </a:pPr>
            <a:r>
              <a:t>Why rules + NER? Formatting and language need different signals.</a:t>
            </a:r>
          </a:p>
          <a:p>
            <a:pPr>
              <a:spcAft>
                <a:spcPts val="1500"/>
              </a:spcAft>
              <a:defRPr sz="2100" b="0">
                <a:solidFill>
                  <a:srgbClr val="F5F5F0"/>
                </a:solidFill>
                <a:latin typeface="Calibri"/>
              </a:defRPr>
            </a:pPr>
            <a:r>
              <a:t>Why text-only output? It avoids retaining hidden original image layers.</a:t>
            </a:r>
          </a:p>
          <a:p>
            <a:pPr>
              <a:spcAft>
                <a:spcPts val="1500"/>
              </a:spcAft>
              <a:defRPr sz="2100" b="0">
                <a:solidFill>
                  <a:srgbClr val="F5F5F0"/>
                </a:solidFill>
                <a:latin typeface="Calibri"/>
              </a:defRPr>
            </a:pPr>
            <a:r>
              <a:t>Why block uncertainty? An unreadable page cannot establish privacy.</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Technical discussion | Reference slides</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Interview reference: explain your component</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A useful answer follows input → work → output → failure → test.</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Platform: file / bytes → stage coordination → one response contract.</a:t>
            </a:r>
          </a:p>
          <a:p>
            <a:pPr>
              <a:spcAft>
                <a:spcPts val="1500"/>
              </a:spcAft>
              <a:defRPr sz="2100" b="0">
                <a:solidFill>
                  <a:srgbClr val="F5F5F0"/>
                </a:solidFill>
                <a:latin typeface="Calibri"/>
              </a:defRPr>
            </a:pPr>
            <a:r>
              <a:t>Extraction: document → ordered text blocks + locations + warnings.</a:t>
            </a:r>
          </a:p>
          <a:p>
            <a:pPr>
              <a:spcAft>
                <a:spcPts val="1500"/>
              </a:spcAft>
              <a:defRPr sz="2100" b="0">
                <a:solidFill>
                  <a:srgbClr val="F5F5F0"/>
                </a:solidFill>
                <a:latin typeface="Calibri"/>
              </a:defRPr>
            </a:pPr>
            <a:r>
              <a:t>Detection: blocks → typed findings with exact spans.</a:t>
            </a:r>
          </a:p>
          <a:p>
            <a:pPr>
              <a:spcAft>
                <a:spcPts val="1500"/>
              </a:spcAft>
              <a:defRPr sz="2100" b="0">
                <a:solidFill>
                  <a:srgbClr val="F5F5F0"/>
                </a:solidFill>
                <a:latin typeface="Calibri"/>
              </a:defRPr>
            </a:pPr>
            <a:r>
              <a:t>Redaction / application: findings → masked preview + enforced release state.</a:t>
            </a:r>
          </a:p>
          <a:p>
            <a:pPr>
              <a:spcAft>
                <a:spcPts val="1500"/>
              </a:spcAft>
              <a:defRPr sz="2100" b="0">
                <a:solidFill>
                  <a:srgbClr val="F5F5F0"/>
                </a:solidFill>
                <a:latin typeface="Calibri"/>
              </a:defRPr>
            </a:pPr>
            <a:r>
              <a:t>QA: independent labels + outputs → metrics and reproducible evidence.</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Technical discussion | Reference slides</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view-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28600"/>
            <a:ext cx="11064240" cy="411480"/>
          </a:xfrm>
          <a:prstGeom prst="rect">
            <a:avLst/>
          </a:prstGeom>
          <a:noFill/>
        </p:spPr>
        <p:txBody>
          <a:bodyPr wrap="square">
            <a:spAutoFit/>
          </a:bodyPr>
          <a:lstStyle/>
          <a:p>
            <a:pPr>
              <a:spcAft>
                <a:spcPts val="1500"/>
              </a:spcAft>
              <a:defRPr sz="1300" b="1">
                <a:solidFill>
                  <a:srgbClr val="F5F5F0"/>
                </a:solidFill>
                <a:latin typeface="Calibri"/>
              </a:defRPr>
            </a:pPr>
            <a:r>
              <a:t>CADENCE FINANCIAL GROUP  /  CASE STUDY 02</a:t>
            </a:r>
          </a:p>
        </p:txBody>
      </p:sp>
      <p:sp>
        <p:nvSpPr>
          <p:cNvPr id="4" name="TextBox 3"/>
          <p:cNvSpPr txBox="1"/>
          <p:nvPr/>
        </p:nvSpPr>
        <p:spPr>
          <a:xfrm>
            <a:off x="594360" y="932688"/>
            <a:ext cx="10972800" cy="914400"/>
          </a:xfrm>
          <a:prstGeom prst="rect">
            <a:avLst/>
          </a:prstGeom>
          <a:noFill/>
        </p:spPr>
        <p:txBody>
          <a:bodyPr wrap="square">
            <a:spAutoFit/>
          </a:bodyPr>
          <a:lstStyle/>
          <a:p>
            <a:pPr>
              <a:spcAft>
                <a:spcPts val="1500"/>
              </a:spcAft>
              <a:defRPr sz="3200" b="1">
                <a:solidFill>
                  <a:srgbClr val="F5F5F0"/>
                </a:solidFill>
                <a:latin typeface="Calibri"/>
              </a:defRPr>
            </a:pPr>
            <a:r>
              <a:t>Closing: a reviewable privacy boundary</a:t>
            </a:r>
          </a:p>
        </p:txBody>
      </p:sp>
      <p:sp>
        <p:nvSpPr>
          <p:cNvPr id="5" name="TextBox 4"/>
          <p:cNvSpPr txBox="1"/>
          <p:nvPr/>
        </p:nvSpPr>
        <p:spPr>
          <a:xfrm>
            <a:off x="640080" y="1847088"/>
            <a:ext cx="10881360" cy="594360"/>
          </a:xfrm>
          <a:prstGeom prst="rect">
            <a:avLst/>
          </a:prstGeom>
          <a:noFill/>
        </p:spPr>
        <p:txBody>
          <a:bodyPr wrap="square">
            <a:spAutoFit/>
          </a:bodyPr>
          <a:lstStyle/>
          <a:p>
            <a:pPr>
              <a:spcAft>
                <a:spcPts val="1500"/>
              </a:spcAft>
              <a:defRPr sz="2100" b="0">
                <a:solidFill>
                  <a:srgbClr val="BFCBD2"/>
                </a:solidFill>
                <a:latin typeface="Calibri"/>
              </a:defRPr>
            </a:pPr>
            <a:r>
              <a:t>The system makes the decision visible and keeps uncertain evidence local.</a:t>
            </a:r>
          </a:p>
        </p:txBody>
      </p:sp>
      <p:sp>
        <p:nvSpPr>
          <p:cNvPr id="6" name="Rectangle 5"/>
          <p:cNvSpPr/>
          <p:nvPr/>
        </p:nvSpPr>
        <p:spPr>
          <a:xfrm>
            <a:off x="594360" y="2651760"/>
            <a:ext cx="10972800" cy="3383280"/>
          </a:xfrm>
          <a:prstGeom prst="rect">
            <a:avLst/>
          </a:prstGeom>
          <a:noFill/>
          <a:ln w="12700">
            <a:solidFill>
              <a:srgbClr val="F0F0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852928"/>
            <a:ext cx="10424160" cy="3017520"/>
          </a:xfrm>
          <a:prstGeom prst="rect">
            <a:avLst/>
          </a:prstGeom>
          <a:noFill/>
        </p:spPr>
        <p:txBody>
          <a:bodyPr wrap="square">
            <a:spAutoFit/>
          </a:bodyPr>
          <a:lstStyle/>
          <a:p>
            <a:pPr>
              <a:spcAft>
                <a:spcPts val="1500"/>
              </a:spcAft>
              <a:defRPr sz="2100" b="0">
                <a:solidFill>
                  <a:srgbClr val="F5F5F0"/>
                </a:solidFill>
                <a:latin typeface="Calibri"/>
              </a:defRPr>
            </a:pPr>
            <a:r>
              <a:t>We can demonstrate actual uploads, local extraction and classified PII.</a:t>
            </a:r>
          </a:p>
          <a:p>
            <a:pPr>
              <a:spcAft>
                <a:spcPts val="1500"/>
              </a:spcAft>
              <a:defRPr sz="2100" b="0">
                <a:solidFill>
                  <a:srgbClr val="F5F5F0"/>
                </a:solidFill>
                <a:latin typeface="Calibri"/>
              </a:defRPr>
            </a:pPr>
            <a:r>
              <a:t>Masked text preserves the surrounding instruction where extraction succeeds.</a:t>
            </a:r>
          </a:p>
          <a:p>
            <a:pPr>
              <a:spcAft>
                <a:spcPts val="1500"/>
              </a:spcAft>
              <a:defRPr sz="2100" b="0">
                <a:solidFill>
                  <a:srgbClr val="F5F5F0"/>
                </a:solidFill>
                <a:latin typeface="Calibri"/>
              </a:defRPr>
            </a:pPr>
            <a:r>
              <a:t>Export is conditional on verification and completeness.</a:t>
            </a:r>
          </a:p>
          <a:p>
            <a:pPr>
              <a:spcAft>
                <a:spcPts val="1500"/>
              </a:spcAft>
              <a:defRPr sz="2100" b="0">
                <a:solidFill>
                  <a:srgbClr val="F5F5F0"/>
                </a:solidFill>
                <a:latin typeface="Calibri"/>
              </a:defRPr>
            </a:pPr>
            <a:r>
              <a:t>Our next milestone is independently measured coverage on the full evidence set.</a:t>
            </a:r>
          </a:p>
        </p:txBody>
      </p:sp>
      <p:sp>
        <p:nvSpPr>
          <p:cNvPr id="8" name="TextBox 7"/>
          <p:cNvSpPr txBox="1"/>
          <p:nvPr/>
        </p:nvSpPr>
        <p:spPr>
          <a:xfrm>
            <a:off x="640080" y="6355080"/>
            <a:ext cx="10058400" cy="274320"/>
          </a:xfrm>
          <a:prstGeom prst="rect">
            <a:avLst/>
          </a:prstGeom>
          <a:noFill/>
        </p:spPr>
        <p:txBody>
          <a:bodyPr wrap="square">
            <a:spAutoFit/>
          </a:bodyPr>
          <a:lstStyle/>
          <a:p>
            <a:pPr>
              <a:spcAft>
                <a:spcPts val="1500"/>
              </a:spcAft>
              <a:defRPr sz="1100" b="0">
                <a:solidFill>
                  <a:srgbClr val="BFCBD2"/>
                </a:solidFill>
                <a:latin typeface="Calibri"/>
              </a:defRPr>
            </a:pPr>
            <a:r>
              <a:t>Technical discussion | Reference slides</a:t>
            </a:r>
          </a:p>
        </p:txBody>
      </p:sp>
      <p:sp>
        <p:nvSpPr>
          <p:cNvPr id="9" name="TextBox 8"/>
          <p:cNvSpPr txBox="1"/>
          <p:nvPr/>
        </p:nvSpPr>
        <p:spPr>
          <a:xfrm>
            <a:off x="10972800" y="6355080"/>
            <a:ext cx="548640" cy="274320"/>
          </a:xfrm>
          <a:prstGeom prst="rect">
            <a:avLst/>
          </a:prstGeom>
          <a:noFill/>
        </p:spPr>
        <p:txBody>
          <a:bodyPr wrap="square">
            <a:spAutoFit/>
          </a:bodyPr>
          <a:lstStyle/>
          <a:p>
            <a:pPr>
              <a:spcAft>
                <a:spcPts val="1500"/>
              </a:spcAft>
              <a:defRPr sz="1100" b="0">
                <a:solidFill>
                  <a:srgbClr val="F5F5F0"/>
                </a:solidFill>
                <a:latin typeface="Calibri"/>
              </a:defRPr>
            </a:pPr>
            <a: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