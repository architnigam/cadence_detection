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constraint. PII means personally identifiable information. We built a local demonstration; we did not integrate an external LLM. Explain that the deck has a main walkthrough and deeper interview reference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organizational chart can contain names and email addresses while a policy scan can hide identifiers in screenshots. A single regular expression on the visible document text would not cover both.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requirements, not achieved accuracy claims. The original brief asks for a 10–15 minute walkthrough. Use the deeper slides as backup when judges ask questions.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TPRM means third-party risk management. Native text is directly encoded text; a scanned image requires OCR. Word pagination is not fixed in XML, so we do not invent page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from left to right. Validation asks whether the file is legitimate and readable. Extraction asks whether the content was recovered. Detection finds sensitive spans. Redaction replaces them. Verification checks both content and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arrows in order. Browser requests go through session and file validation. The runtime orchestrates real adapters, translators and release checks. Raw evidence stays local; the downstream LLM is a future integration after checked export.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adapter translates between component contracts. Here it reconciles identifiers, confidence scales, metadata and findings. The legacy orchestrator has fail-closed stub tests; the real app and CLI inject actual adapters.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is a path or uploaded bytes. Output is a pipeline response plus restricted local context. SHA-based identifiers help maintain document identity. Missing stages, unsupported files and adapter failures must block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OOXML is the ZIP/XML representation of Word and PowerPoint documents. Extraction does not require copying text from the visible Office window. OCR recognizes characters from pixels; it does not classify PII. Unsupported conversions remain explicit review issues.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means optical character recognition. PDFium renders pages and Tesseract recognizes text. A block stores text together with its source reference. On a chart, reading order may not fully preserve visual relationships; this needs manual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OOXML as the zipped XML package used by modern Word and PowerPoint. Source paths and table coordinates are useful even when a fixed page number is unavailable. Crops can help small screenshot text, but OCR still needs review.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NER is named-entity recognition, using spaCy and the local English model. Regex is useful for formatted identifiers but weak for names. Context reduces false positives, though heuristics and OCR noise can still cause errors.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PII from any number or capitalized phrase. An invoice amount is not automatically a bank account; a policy approval date is not automatically a DOB. The supported category list is not proof of complete global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NER is not an external LLM. Email patterns, context such as DOB, and validators have different strengths. The detector attempts to reject ordinary workflow labels. False positives and OCR-induced misses remain possible; independent evaluation is necessary.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spans 2–8 and 6–12 must mask 2–12, not discard one span and expose its tail. Applying a replacement at the end first leaves earlier character indices unchanged. Invalid spans raise errors rather than being silently counted as masked.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failed OCR engine could otherwise produce empty text and falsely look safe. The gate combines content checks with evidence that required processing actually completed. It cannot prove that an unknown PII type was never present.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served by a loopback-only Python server. No external assets or model requests are needed for uploads. Original inspection is intentionally restricted because it contains raw PII. Local demonstration controls are not a full internet deployment security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references: web.py, runtime.py, ingestion/orchestrator.py, redaction/redactor.py and redaction/gate.py. The server uses local workers and in-memory jobs. Original values and reversible mappings must not be treated as public audit output.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false positive is ordinary text marked sensitive. A false negative is a missed sensitive occurrence. Predictions must not be used as their own ground truth. The structure rubric is our proposed measurement method, not a formula specified in the brief.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counts are the local verification recorded on 14 October 2026. Synthetic accuracy is bounded to that fixture. The actual scanned policy and training document can remain quarantined because OCR or rescan issues require human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testing only valid fixtures would be misleading. Each class targets a way that sensitive data could slip through or the UI could falsely suggest approval. No finite suite covers every future document.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concrete before/after: an overlap could previously leave part of an identifier; union masking removes the whole range. Adapters resolved valid components disagreeing about formats. Distinguish initial role ownership from these integration fixes.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lower OCR thresholds merely to obtain an approval. The case goals remain targets until independent measurements support them. Photo and signature recognition is not implemented as a full visual PII system.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file: Cadence_Financial_Group_Organizational_Pack.pptx. Extraction reference: ppt/slides/slide3.xml:shape:12:paragraph:1. The email is quoted from the supplied artifact. Explain that nearby names are separate findings; this example isolates one email. Native text avoids OCR errors, but chart relationships still need structure review.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file: Cadence_Group_Risk_Management_Policy__v6.0.pdf. Reference pdf:page:1:ocr_line:8. The cached OCR line has approximately 92.2/100 confidence; this is engine confidence, not measured PII accuracy. Document-level incompleteness can still block export. The masked text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file: Cadence_TPRM_Training.docx. Reference word/document.xml:paragraph:12. This is a negative example: vendor onboarding is a process, not automatically PII. Explain native XML and image OCR as separate extraction tasks. This does not claim that the detector never makes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word/document.xml:table:13:row:1:column:2:paragraph:1. Table numbering follows extractor references, which need not match visible Word table labels. This example demonstrates intended classification and context preservation, not a new test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that OCR, regex or NER is a newly invented algorithm. Differentiation is the implemented combination, traceability and fail-closed behavior. Peers receive the same problem; compare demonstrable behavior rather than claiming unverified superiority. Our bounded synthetic results support specific checks, not universal accuracy.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Caddet: text analysis and PII detection</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A local document-review pipeline for financial-services evidence.</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The problem: personal information must be removed before document text reaches an AI model.</a:t>
            </a:r>
          </a:p>
          <a:p>
            <a:pPr>
              <a:spcAft>
                <a:spcPts val="1800"/>
              </a:spcAft>
              <a:defRPr sz="2200" b="0">
                <a:solidFill>
                  <a:srgbClr val="3A4557"/>
                </a:solidFill>
                <a:latin typeface="Calibri"/>
              </a:defRPr>
            </a:pPr>
            <a:r>
              <a:t>Our approach: extract, classify, mask, verify, then allow or block export.</a:t>
            </a:r>
          </a:p>
          <a:p>
            <a:pPr>
              <a:spcAft>
                <a:spcPts val="1800"/>
              </a:spcAft>
              <a:defRPr sz="2200" b="0">
                <a:solidFill>
                  <a:srgbClr val="3A4557"/>
                </a:solidFill>
                <a:latin typeface="Calibri"/>
              </a:defRPr>
            </a:pPr>
            <a:r>
              <a:t>Walkthrough: business need → design → component roles → demonstration → evidence.</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Problem statement</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Useful business context must survive; personal details must not.</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Cadence employees use documents to support operational decisions.</a:t>
            </a:r>
          </a:p>
          <a:p>
            <a:pPr>
              <a:spcAft>
                <a:spcPts val="1800"/>
              </a:spcAft>
              <a:defRPr sz="2200" b="0">
                <a:solidFill>
                  <a:srgbClr val="3A4557"/>
                </a:solidFill>
                <a:latin typeface="Calibri"/>
              </a:defRPr>
            </a:pPr>
            <a:r>
              <a:t>Evidence arrives as scanned policies, organizational presentations and process documents.</a:t>
            </a:r>
          </a:p>
          <a:p>
            <a:pPr>
              <a:spcAft>
                <a:spcPts val="1800"/>
              </a:spcAft>
              <a:defRPr sz="2200" b="0">
                <a:solidFill>
                  <a:srgbClr val="3A4557"/>
                </a:solidFill>
                <a:latin typeface="Calibri"/>
              </a:defRPr>
            </a:pPr>
            <a:r>
              <a:t>The case requires repeatable extraction, PII classification and redaction before downstream AI processing.</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Case study requirements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Five outcomes shape the design.</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Solution blueprint: the stages and data flow from upload to detection output.</a:t>
            </a:r>
          </a:p>
          <a:p>
            <a:pPr>
              <a:spcAft>
                <a:spcPts val="1800"/>
              </a:spcAft>
              <a:defRPr sz="2200" b="0">
                <a:solidFill>
                  <a:srgbClr val="3A4557"/>
                </a:solidFill>
                <a:latin typeface="Calibri"/>
              </a:defRPr>
            </a:pPr>
            <a:r>
              <a:t>System architecture: technical components and how they interact.</a:t>
            </a:r>
          </a:p>
          <a:p>
            <a:pPr>
              <a:spcAft>
                <a:spcPts val="1800"/>
              </a:spcAft>
              <a:defRPr sz="2200" b="0">
                <a:solidFill>
                  <a:srgbClr val="3A4557"/>
                </a:solidFill>
                <a:latin typeface="Calibri"/>
              </a:defRPr>
            </a:pPr>
            <a:r>
              <a:t>Extraction logic: how each format is read and PII is classified.</a:t>
            </a:r>
          </a:p>
          <a:p>
            <a:pPr>
              <a:spcAft>
                <a:spcPts val="1800"/>
              </a:spcAft>
              <a:defRPr sz="2200" b="0">
                <a:solidFill>
                  <a:srgbClr val="3A4557"/>
                </a:solidFill>
                <a:latin typeface="Calibri"/>
              </a:defRPr>
            </a:pPr>
            <a:r>
              <a:t>Reliable outcomes: ≥80% structure/context and near-complete PII coverage targets.</a:t>
            </a:r>
          </a:p>
          <a:p>
            <a:pPr>
              <a:spcAft>
                <a:spcPts val="1800"/>
              </a:spcAft>
              <a:defRPr sz="2200" b="0">
                <a:solidFill>
                  <a:srgbClr val="3A4557"/>
                </a:solidFill>
                <a:latin typeface="Calibri"/>
              </a:defRPr>
            </a:pPr>
            <a:r>
              <a:t>Live walkthrough: upload the actual artifacts and inspect the results.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Three inputs, three extraction challenges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The supplied files are the evidence, not interchangeable samples.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Organizational PPTX: 9 slides with charts, directories and contact details.</a:t>
            </a:r>
          </a:p>
          <a:p>
            <a:pPr>
              <a:spcAft>
                <a:spcPts val="1800"/>
              </a:spcAft>
              <a:defRPr sz="2200" b="0">
                <a:solidFill>
                  <a:srgbClr val="3A4557"/>
                </a:solidFill>
                <a:latin typeface="Calibri"/>
              </a:defRPr>
            </a:pPr>
            <a:r>
              <a:t>Risk policy PDF: 35 scanned pages, including tables and embedded screenshots.</a:t>
            </a:r>
          </a:p>
          <a:p>
            <a:pPr>
              <a:spcAft>
                <a:spcPts val="1800"/>
              </a:spcAft>
              <a:defRPr sz="2200" b="0">
                <a:solidFill>
                  <a:srgbClr val="3A4557"/>
                </a:solidFill>
                <a:latin typeface="Calibri"/>
              </a:defRPr>
            </a:pPr>
            <a:r>
              <a:t>TPRM training DOCX: 16 tables and 41 media entries, including vector formats.</a:t>
            </a:r>
          </a:p>
          <a:p>
            <a:pPr>
              <a:spcAft>
                <a:spcPts val="1800"/>
              </a:spcAft>
              <a:defRPr sz="2200" b="0">
                <a:solidFill>
                  <a:srgbClr val="3A4557"/>
                </a:solidFill>
                <a:latin typeface="Calibri"/>
              </a:defRPr>
            </a:pPr>
            <a:r>
              <a:t>The shared difficulty is preserving relationships while reading all relevant text.</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End-to-end pipeline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Every stage contributes evidence to the final release decision.</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Upload → Validate → Extract / OCR → Detect → Mask → Verify</a:t>
            </a:r>
          </a:p>
          <a:p>
            <a:pPr>
              <a:spcAft>
                <a:spcPts val="1800"/>
              </a:spcAft>
              <a:defRPr sz="2200" b="0">
                <a:solidFill>
                  <a:srgbClr val="3A4557"/>
                </a:solidFill>
                <a:latin typeface="Calibri"/>
              </a:defRPr>
            </a:pPr>
            <a:r>
              <a:t>PASS: download checked plain text.</a:t>
            </a:r>
          </a:p>
          <a:p>
            <a:pPr>
              <a:spcAft>
                <a:spcPts val="1800"/>
              </a:spcAft>
              <a:defRPr sz="2200" b="0">
                <a:solidFill>
                  <a:srgbClr val="3A4557"/>
                </a:solidFill>
                <a:latin typeface="Calibri"/>
              </a:defRPr>
            </a:pPr>
            <a:r>
              <a:t>REVIEW: inspect warnings locally; export remains blocked.</a:t>
            </a:r>
          </a:p>
          <a:p>
            <a:pPr>
              <a:spcAft>
                <a:spcPts val="1800"/>
              </a:spcAft>
              <a:defRPr sz="2200" b="0">
                <a:solidFill>
                  <a:srgbClr val="3A4557"/>
                </a:solidFill>
                <a:latin typeface="Calibri"/>
              </a:defRPr>
            </a:pPr>
            <a:r>
              <a:t>The original document and image bytes are not included in the text download.</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System architecture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Local components exchange traceable text blocks and explicit processing states.</a:t>
            </a:r>
          </a:p>
        </p:txBody>
      </p:sp>
      <p:sp>
        <p:nvSpPr>
          <p:cNvPr id="7" name="Rectangle 6"/>
          <p:cNvSpPr/>
          <p:nvPr/>
        </p:nvSpPr>
        <p:spPr>
          <a:xfrm>
            <a:off x="594360" y="2377440"/>
            <a:ext cx="3291840" cy="1234440"/>
          </a:xfrm>
          <a:prstGeom prst="rect">
            <a:avLst/>
          </a:prstGeom>
          <a:solidFill>
            <a:srgbClr val="F2F4F7"/>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487168"/>
            <a:ext cx="3017520" cy="320040"/>
          </a:xfrm>
          <a:prstGeom prst="rect">
            <a:avLst/>
          </a:prstGeom>
          <a:noFill/>
        </p:spPr>
        <p:txBody>
          <a:bodyPr wrap="square">
            <a:spAutoFit/>
          </a:bodyPr>
          <a:lstStyle/>
          <a:p>
            <a:pPr>
              <a:spcAft>
                <a:spcPts val="300"/>
              </a:spcAft>
              <a:defRPr sz="1900" b="0">
                <a:solidFill>
                  <a:srgbClr val="12284C"/>
                </a:solidFill>
                <a:latin typeface="Georgia"/>
              </a:defRPr>
            </a:pPr>
            <a:r>
              <a:t>Browser interface</a:t>
            </a:r>
          </a:p>
        </p:txBody>
      </p:sp>
      <p:sp>
        <p:nvSpPr>
          <p:cNvPr id="9" name="TextBox 8"/>
          <p:cNvSpPr txBox="1"/>
          <p:nvPr/>
        </p:nvSpPr>
        <p:spPr>
          <a:xfrm>
            <a:off x="731520" y="2926080"/>
            <a:ext cx="3017520" cy="640080"/>
          </a:xfrm>
          <a:prstGeom prst="rect">
            <a:avLst/>
          </a:prstGeom>
          <a:noFill/>
        </p:spPr>
        <p:txBody>
          <a:bodyPr wrap="square">
            <a:spAutoFit/>
          </a:bodyPr>
          <a:lstStyle/>
          <a:p>
            <a:pPr>
              <a:spcAft>
                <a:spcPts val="300"/>
              </a:spcAft>
              <a:defRPr sz="1600" b="0">
                <a:solidFill>
                  <a:srgbClr val="616F87"/>
                </a:solidFill>
                <a:latin typeface="Calibri"/>
              </a:defRPr>
            </a:pPr>
            <a:r>
              <a:t>Upload / poll / inspect</a:t>
            </a:r>
          </a:p>
          <a:p>
            <a:pPr>
              <a:spcAft>
                <a:spcPts val="300"/>
              </a:spcAft>
              <a:defRPr sz="1600" b="0">
                <a:solidFill>
                  <a:srgbClr val="616F87"/>
                </a:solidFill>
                <a:latin typeface="Calibri"/>
              </a:defRPr>
            </a:pPr>
            <a:r>
              <a:t>Download checked text</a:t>
            </a:r>
          </a:p>
        </p:txBody>
      </p:sp>
      <p:sp>
        <p:nvSpPr>
          <p:cNvPr id="10" name="Rectangle 9"/>
          <p:cNvSpPr/>
          <p:nvPr/>
        </p:nvSpPr>
        <p:spPr>
          <a:xfrm>
            <a:off x="4251960" y="2377440"/>
            <a:ext cx="3291840" cy="1234440"/>
          </a:xfrm>
          <a:prstGeom prst="rect">
            <a:avLst/>
          </a:prstGeom>
          <a:solidFill>
            <a:srgbClr val="F2F4F7"/>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2487168"/>
            <a:ext cx="3017520" cy="320040"/>
          </a:xfrm>
          <a:prstGeom prst="rect">
            <a:avLst/>
          </a:prstGeom>
          <a:noFill/>
        </p:spPr>
        <p:txBody>
          <a:bodyPr wrap="square">
            <a:spAutoFit/>
          </a:bodyPr>
          <a:lstStyle/>
          <a:p>
            <a:pPr>
              <a:spcAft>
                <a:spcPts val="300"/>
              </a:spcAft>
              <a:defRPr sz="1900" b="0">
                <a:solidFill>
                  <a:srgbClr val="12284C"/>
                </a:solidFill>
                <a:latin typeface="Georgia"/>
              </a:defRPr>
            </a:pPr>
            <a:r>
              <a:t>Local server + runtime</a:t>
            </a:r>
          </a:p>
        </p:txBody>
      </p:sp>
      <p:sp>
        <p:nvSpPr>
          <p:cNvPr id="12" name="TextBox 11"/>
          <p:cNvSpPr txBox="1"/>
          <p:nvPr/>
        </p:nvSpPr>
        <p:spPr>
          <a:xfrm>
            <a:off x="4389120" y="2926080"/>
            <a:ext cx="3017520" cy="640080"/>
          </a:xfrm>
          <a:prstGeom prst="rect">
            <a:avLst/>
          </a:prstGeom>
          <a:noFill/>
        </p:spPr>
        <p:txBody>
          <a:bodyPr wrap="square">
            <a:spAutoFit/>
          </a:bodyPr>
          <a:lstStyle/>
          <a:p>
            <a:pPr>
              <a:spcAft>
                <a:spcPts val="300"/>
              </a:spcAft>
              <a:defRPr sz="1600" b="0">
                <a:solidFill>
                  <a:srgbClr val="616F87"/>
                </a:solidFill>
                <a:latin typeface="Calibri"/>
              </a:defRPr>
            </a:pPr>
            <a:r>
              <a:t>Session / file validation</a:t>
            </a:r>
          </a:p>
          <a:p>
            <a:pPr>
              <a:spcAft>
                <a:spcPts val="300"/>
              </a:spcAft>
              <a:defRPr sz="1600" b="0">
                <a:solidFill>
                  <a:srgbClr val="616F87"/>
                </a:solidFill>
                <a:latin typeface="Calibri"/>
              </a:defRPr>
            </a:pPr>
            <a:r>
              <a:t>Stage orchestration</a:t>
            </a:r>
          </a:p>
        </p:txBody>
      </p:sp>
      <p:sp>
        <p:nvSpPr>
          <p:cNvPr id="13" name="Rectangle 12"/>
          <p:cNvSpPr/>
          <p:nvPr/>
        </p:nvSpPr>
        <p:spPr>
          <a:xfrm>
            <a:off x="7909560" y="2377440"/>
            <a:ext cx="3291840" cy="1234440"/>
          </a:xfrm>
          <a:prstGeom prst="rect">
            <a:avLst/>
          </a:prstGeom>
          <a:solidFill>
            <a:srgbClr val="F2F4F7"/>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487168"/>
            <a:ext cx="3017520" cy="320040"/>
          </a:xfrm>
          <a:prstGeom prst="rect">
            <a:avLst/>
          </a:prstGeom>
          <a:noFill/>
        </p:spPr>
        <p:txBody>
          <a:bodyPr wrap="square">
            <a:spAutoFit/>
          </a:bodyPr>
          <a:lstStyle/>
          <a:p>
            <a:pPr>
              <a:spcAft>
                <a:spcPts val="300"/>
              </a:spcAft>
              <a:defRPr sz="1900" b="0">
                <a:solidFill>
                  <a:srgbClr val="12284C"/>
                </a:solidFill>
                <a:latin typeface="Georgia"/>
              </a:defRPr>
            </a:pPr>
            <a:r>
              <a:t>Extraction + OCR</a:t>
            </a:r>
          </a:p>
        </p:txBody>
      </p:sp>
      <p:sp>
        <p:nvSpPr>
          <p:cNvPr id="15" name="TextBox 14"/>
          <p:cNvSpPr txBox="1"/>
          <p:nvPr/>
        </p:nvSpPr>
        <p:spPr>
          <a:xfrm>
            <a:off x="8046720" y="2926080"/>
            <a:ext cx="3017520" cy="640080"/>
          </a:xfrm>
          <a:prstGeom prst="rect">
            <a:avLst/>
          </a:prstGeom>
          <a:noFill/>
        </p:spPr>
        <p:txBody>
          <a:bodyPr wrap="square">
            <a:spAutoFit/>
          </a:bodyPr>
          <a:lstStyle/>
          <a:p>
            <a:pPr>
              <a:spcAft>
                <a:spcPts val="300"/>
              </a:spcAft>
              <a:defRPr sz="1600" b="0">
                <a:solidFill>
                  <a:srgbClr val="616F87"/>
                </a:solidFill>
                <a:latin typeface="Calibri"/>
              </a:defRPr>
            </a:pPr>
            <a:r>
              <a:t>PDF / PPTX / DOCX</a:t>
            </a:r>
          </a:p>
          <a:p>
            <a:pPr>
              <a:spcAft>
                <a:spcPts val="300"/>
              </a:spcAft>
              <a:defRPr sz="1600" b="0">
                <a:solidFill>
                  <a:srgbClr val="616F87"/>
                </a:solidFill>
                <a:latin typeface="Calibri"/>
              </a:defRPr>
            </a:pPr>
            <a:r>
              <a:t>Text, locations, warnings</a:t>
            </a:r>
          </a:p>
        </p:txBody>
      </p:sp>
      <p:sp>
        <p:nvSpPr>
          <p:cNvPr id="16" name="Rectangle 15"/>
          <p:cNvSpPr/>
          <p:nvPr/>
        </p:nvSpPr>
        <p:spPr>
          <a:xfrm>
            <a:off x="7909560" y="4251960"/>
            <a:ext cx="3291840" cy="1234440"/>
          </a:xfrm>
          <a:prstGeom prst="rect">
            <a:avLst/>
          </a:prstGeom>
          <a:solidFill>
            <a:srgbClr val="F2F4F7"/>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361688"/>
            <a:ext cx="3017520" cy="320040"/>
          </a:xfrm>
          <a:prstGeom prst="rect">
            <a:avLst/>
          </a:prstGeom>
          <a:noFill/>
        </p:spPr>
        <p:txBody>
          <a:bodyPr wrap="square">
            <a:spAutoFit/>
          </a:bodyPr>
          <a:lstStyle/>
          <a:p>
            <a:pPr>
              <a:spcAft>
                <a:spcPts val="300"/>
              </a:spcAft>
              <a:defRPr sz="1900" b="0">
                <a:solidFill>
                  <a:srgbClr val="12284C"/>
                </a:solidFill>
                <a:latin typeface="Georgia"/>
              </a:defRPr>
            </a:pPr>
            <a:r>
              <a:t>PII detection</a:t>
            </a:r>
          </a:p>
        </p:txBody>
      </p:sp>
      <p:sp>
        <p:nvSpPr>
          <p:cNvPr id="18" name="TextBox 17"/>
          <p:cNvSpPr txBox="1"/>
          <p:nvPr/>
        </p:nvSpPr>
        <p:spPr>
          <a:xfrm>
            <a:off x="8046720" y="4800600"/>
            <a:ext cx="3017520" cy="640080"/>
          </a:xfrm>
          <a:prstGeom prst="rect">
            <a:avLst/>
          </a:prstGeom>
          <a:noFill/>
        </p:spPr>
        <p:txBody>
          <a:bodyPr wrap="square">
            <a:spAutoFit/>
          </a:bodyPr>
          <a:lstStyle/>
          <a:p>
            <a:pPr>
              <a:spcAft>
                <a:spcPts val="300"/>
              </a:spcAft>
              <a:defRPr sz="1600" b="0">
                <a:solidFill>
                  <a:srgbClr val="616F87"/>
                </a:solidFill>
                <a:latin typeface="Calibri"/>
              </a:defRPr>
            </a:pPr>
            <a:r>
              <a:t>Local NER + rules</a:t>
            </a:r>
          </a:p>
          <a:p>
            <a:pPr>
              <a:spcAft>
                <a:spcPts val="300"/>
              </a:spcAft>
              <a:defRPr sz="1600" b="0">
                <a:solidFill>
                  <a:srgbClr val="616F87"/>
                </a:solidFill>
                <a:latin typeface="Calibri"/>
              </a:defRPr>
            </a:pPr>
            <a:r>
              <a:t>Typed character spans</a:t>
            </a:r>
          </a:p>
        </p:txBody>
      </p:sp>
      <p:sp>
        <p:nvSpPr>
          <p:cNvPr id="19" name="Rectangle 18"/>
          <p:cNvSpPr/>
          <p:nvPr/>
        </p:nvSpPr>
        <p:spPr>
          <a:xfrm>
            <a:off x="4251960" y="4251960"/>
            <a:ext cx="3291840" cy="1234440"/>
          </a:xfrm>
          <a:prstGeom prst="rect">
            <a:avLst/>
          </a:prstGeom>
          <a:solidFill>
            <a:srgbClr val="F2F4F7"/>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4361688"/>
            <a:ext cx="3017520" cy="320040"/>
          </a:xfrm>
          <a:prstGeom prst="rect">
            <a:avLst/>
          </a:prstGeom>
          <a:noFill/>
        </p:spPr>
        <p:txBody>
          <a:bodyPr wrap="square">
            <a:spAutoFit/>
          </a:bodyPr>
          <a:lstStyle/>
          <a:p>
            <a:pPr>
              <a:spcAft>
                <a:spcPts val="300"/>
              </a:spcAft>
              <a:defRPr sz="1900" b="0">
                <a:solidFill>
                  <a:srgbClr val="12284C"/>
                </a:solidFill>
                <a:latin typeface="Georgia"/>
              </a:defRPr>
            </a:pPr>
            <a:r>
              <a:t>Redaction</a:t>
            </a:r>
          </a:p>
        </p:txBody>
      </p:sp>
      <p:sp>
        <p:nvSpPr>
          <p:cNvPr id="21" name="TextBox 20"/>
          <p:cNvSpPr txBox="1"/>
          <p:nvPr/>
        </p:nvSpPr>
        <p:spPr>
          <a:xfrm>
            <a:off x="4389120" y="4800600"/>
            <a:ext cx="3017520" cy="640080"/>
          </a:xfrm>
          <a:prstGeom prst="rect">
            <a:avLst/>
          </a:prstGeom>
          <a:noFill/>
        </p:spPr>
        <p:txBody>
          <a:bodyPr wrap="square">
            <a:spAutoFit/>
          </a:bodyPr>
          <a:lstStyle/>
          <a:p>
            <a:pPr>
              <a:spcAft>
                <a:spcPts val="300"/>
              </a:spcAft>
              <a:defRPr sz="1600" b="0">
                <a:solidFill>
                  <a:srgbClr val="616F87"/>
                </a:solidFill>
                <a:latin typeface="Calibri"/>
              </a:defRPr>
            </a:pPr>
            <a:r>
              <a:t>Validate / union spans</a:t>
            </a:r>
          </a:p>
          <a:p>
            <a:pPr>
              <a:spcAft>
                <a:spcPts val="300"/>
              </a:spcAft>
              <a:defRPr sz="1600" b="0">
                <a:solidFill>
                  <a:srgbClr val="616F87"/>
                </a:solidFill>
                <a:latin typeface="Calibri"/>
              </a:defRPr>
            </a:pPr>
            <a:r>
              <a:t>Stable typed tokens</a:t>
            </a:r>
          </a:p>
        </p:txBody>
      </p:sp>
      <p:sp>
        <p:nvSpPr>
          <p:cNvPr id="22" name="Rectangle 21"/>
          <p:cNvSpPr/>
          <p:nvPr/>
        </p:nvSpPr>
        <p:spPr>
          <a:xfrm>
            <a:off x="594360" y="4251960"/>
            <a:ext cx="3291840" cy="1234440"/>
          </a:xfrm>
          <a:prstGeom prst="rect">
            <a:avLst/>
          </a:prstGeom>
          <a:solidFill>
            <a:srgbClr val="F2F4F7"/>
          </a:solidFill>
          <a:ln>
            <a:solidFill>
              <a:srgbClr val="D7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361688"/>
            <a:ext cx="3017520" cy="320040"/>
          </a:xfrm>
          <a:prstGeom prst="rect">
            <a:avLst/>
          </a:prstGeom>
          <a:noFill/>
        </p:spPr>
        <p:txBody>
          <a:bodyPr wrap="square">
            <a:spAutoFit/>
          </a:bodyPr>
          <a:lstStyle/>
          <a:p>
            <a:pPr>
              <a:spcAft>
                <a:spcPts val="300"/>
              </a:spcAft>
              <a:defRPr sz="1900" b="0">
                <a:solidFill>
                  <a:srgbClr val="12284C"/>
                </a:solidFill>
                <a:latin typeface="Georgia"/>
              </a:defRPr>
            </a:pPr>
            <a:r>
              <a:t>Verification + gate</a:t>
            </a:r>
          </a:p>
        </p:txBody>
      </p:sp>
      <p:sp>
        <p:nvSpPr>
          <p:cNvPr id="24" name="TextBox 23"/>
          <p:cNvSpPr txBox="1"/>
          <p:nvPr/>
        </p:nvSpPr>
        <p:spPr>
          <a:xfrm>
            <a:off x="731520" y="4800600"/>
            <a:ext cx="3017520" cy="640080"/>
          </a:xfrm>
          <a:prstGeom prst="rect">
            <a:avLst/>
          </a:prstGeom>
          <a:noFill/>
        </p:spPr>
        <p:txBody>
          <a:bodyPr wrap="square">
            <a:spAutoFit/>
          </a:bodyPr>
          <a:lstStyle/>
          <a:p>
            <a:pPr>
              <a:spcAft>
                <a:spcPts val="300"/>
              </a:spcAft>
              <a:defRPr sz="1600" b="0">
                <a:solidFill>
                  <a:srgbClr val="616F87"/>
                </a:solidFill>
                <a:latin typeface="Calibri"/>
              </a:defRPr>
            </a:pPr>
            <a:r>
              <a:t>Rescan / completeness</a:t>
            </a:r>
          </a:p>
          <a:p>
            <a:pPr>
              <a:spcAft>
                <a:spcPts val="300"/>
              </a:spcAft>
              <a:defRPr sz="1600" b="0">
                <a:solidFill>
                  <a:srgbClr val="616F87"/>
                </a:solidFill>
                <a:latin typeface="Calibri"/>
              </a:defRPr>
            </a:pPr>
            <a:r>
              <a:t>Approve or block</a:t>
            </a:r>
          </a:p>
        </p:txBody>
      </p:sp>
      <p:sp>
        <p:nvSpPr>
          <p:cNvPr id="25" name="TextBox 24"/>
          <p:cNvSpPr txBox="1"/>
          <p:nvPr/>
        </p:nvSpPr>
        <p:spPr>
          <a:xfrm>
            <a:off x="3886200" y="2697480"/>
            <a:ext cx="365760" cy="548640"/>
          </a:xfrm>
          <a:prstGeom prst="rect">
            <a:avLst/>
          </a:prstGeom>
          <a:noFill/>
        </p:spPr>
        <p:txBody>
          <a:bodyPr wrap="square">
            <a:spAutoFit/>
          </a:bodyPr>
          <a:lstStyle/>
          <a:p>
            <a:pPr>
              <a:spcAft>
                <a:spcPts val="1800"/>
              </a:spcAft>
              <a:defRPr sz="2400" b="0">
                <a:solidFill>
                  <a:srgbClr val="12284C"/>
                </a:solidFill>
                <a:latin typeface="Calibri"/>
              </a:defRPr>
            </a:pPr>
            <a:r>
              <a:t>→</a:t>
            </a:r>
          </a:p>
        </p:txBody>
      </p:sp>
      <p:sp>
        <p:nvSpPr>
          <p:cNvPr id="26" name="TextBox 25"/>
          <p:cNvSpPr txBox="1"/>
          <p:nvPr/>
        </p:nvSpPr>
        <p:spPr>
          <a:xfrm>
            <a:off x="3886200" y="4526280"/>
            <a:ext cx="365760" cy="548640"/>
          </a:xfrm>
          <a:prstGeom prst="rect">
            <a:avLst/>
          </a:prstGeom>
          <a:noFill/>
        </p:spPr>
        <p:txBody>
          <a:bodyPr wrap="square">
            <a:spAutoFit/>
          </a:bodyPr>
          <a:lstStyle/>
          <a:p>
            <a:pPr>
              <a:spcAft>
                <a:spcPts val="1800"/>
              </a:spcAft>
              <a:defRPr sz="2400" b="0">
                <a:solidFill>
                  <a:srgbClr val="12284C"/>
                </a:solidFill>
                <a:latin typeface="Calibri"/>
              </a:defRPr>
            </a:pPr>
            <a:r>
              <a:t>←</a:t>
            </a:r>
          </a:p>
        </p:txBody>
      </p:sp>
      <p:sp>
        <p:nvSpPr>
          <p:cNvPr id="27" name="TextBox 26"/>
          <p:cNvSpPr txBox="1"/>
          <p:nvPr/>
        </p:nvSpPr>
        <p:spPr>
          <a:xfrm>
            <a:off x="7543800" y="2697480"/>
            <a:ext cx="365760" cy="548640"/>
          </a:xfrm>
          <a:prstGeom prst="rect">
            <a:avLst/>
          </a:prstGeom>
          <a:noFill/>
        </p:spPr>
        <p:txBody>
          <a:bodyPr wrap="square">
            <a:spAutoFit/>
          </a:bodyPr>
          <a:lstStyle/>
          <a:p>
            <a:pPr>
              <a:spcAft>
                <a:spcPts val="1800"/>
              </a:spcAft>
              <a:defRPr sz="2400" b="0">
                <a:solidFill>
                  <a:srgbClr val="12284C"/>
                </a:solidFill>
                <a:latin typeface="Calibri"/>
              </a:defRPr>
            </a:pPr>
            <a:r>
              <a:t>→</a:t>
            </a:r>
          </a:p>
        </p:txBody>
      </p:sp>
      <p:sp>
        <p:nvSpPr>
          <p:cNvPr id="28" name="TextBox 27"/>
          <p:cNvSpPr txBox="1"/>
          <p:nvPr/>
        </p:nvSpPr>
        <p:spPr>
          <a:xfrm>
            <a:off x="7543800" y="4526280"/>
            <a:ext cx="365760" cy="548640"/>
          </a:xfrm>
          <a:prstGeom prst="rect">
            <a:avLst/>
          </a:prstGeom>
          <a:noFill/>
        </p:spPr>
        <p:txBody>
          <a:bodyPr wrap="square">
            <a:spAutoFit/>
          </a:bodyPr>
          <a:lstStyle/>
          <a:p>
            <a:pPr>
              <a:spcAft>
                <a:spcPts val="1800"/>
              </a:spcAft>
              <a:defRPr sz="2400" b="0">
                <a:solidFill>
                  <a:srgbClr val="12284C"/>
                </a:solidFill>
                <a:latin typeface="Calibri"/>
              </a:defRPr>
            </a:pPr>
            <a:r>
              <a:t>←</a:t>
            </a:r>
          </a:p>
        </p:txBody>
      </p:sp>
      <p:sp>
        <p:nvSpPr>
          <p:cNvPr id="29" name="TextBox 28"/>
          <p:cNvSpPr txBox="1"/>
          <p:nvPr/>
        </p:nvSpPr>
        <p:spPr>
          <a:xfrm>
            <a:off x="9372600" y="3657600"/>
            <a:ext cx="457200" cy="502920"/>
          </a:xfrm>
          <a:prstGeom prst="rect">
            <a:avLst/>
          </a:prstGeom>
          <a:noFill/>
        </p:spPr>
        <p:txBody>
          <a:bodyPr wrap="square">
            <a:spAutoFit/>
          </a:bodyPr>
          <a:lstStyle/>
          <a:p>
            <a:pPr>
              <a:spcAft>
                <a:spcPts val="1800"/>
              </a:spcAft>
              <a:defRPr sz="2400" b="0">
                <a:solidFill>
                  <a:srgbClr val="12284C"/>
                </a:solidFill>
                <a:latin typeface="Calibri"/>
              </a:defRPr>
            </a:pPr>
            <a:r>
              <a:t>↓</a:t>
            </a:r>
          </a:p>
        </p:txBody>
      </p:sp>
      <p:sp>
        <p:nvSpPr>
          <p:cNvPr id="30" name="TextBox 29"/>
          <p:cNvSpPr txBox="1"/>
          <p:nvPr/>
        </p:nvSpPr>
        <p:spPr>
          <a:xfrm>
            <a:off x="731520" y="5760720"/>
            <a:ext cx="10789920" cy="502920"/>
          </a:xfrm>
          <a:prstGeom prst="rect">
            <a:avLst/>
          </a:prstGeom>
          <a:noFill/>
        </p:spPr>
        <p:txBody>
          <a:bodyPr wrap="square">
            <a:spAutoFit/>
          </a:bodyPr>
          <a:lstStyle/>
          <a:p>
            <a:pPr>
              <a:spcAft>
                <a:spcPts val="300"/>
              </a:spcAft>
              <a:defRPr sz="1800" b="0">
                <a:solidFill>
                  <a:srgbClr val="12284C"/>
                </a:solidFill>
                <a:latin typeface="Calibri"/>
              </a:defRPr>
            </a:pPr>
            <a:r>
              <a:t>Approved → checked text export     |     Uncertain / incomplete → local review</a:t>
            </a:r>
          </a:p>
        </p:txBody>
      </p:sp>
      <p:sp>
        <p:nvSpPr>
          <p:cNvPr id="31" name="Rectangle 30"/>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33" name="TextBox 32"/>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Architecture: component responsibilities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The runtime connects the merged components through explicit adapters.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Browser + web.py → local session, upload, polling and download routes.</a:t>
            </a:r>
          </a:p>
          <a:p>
            <a:pPr>
              <a:spcAft>
                <a:spcPts val="1800"/>
              </a:spcAft>
              <a:defRPr sz="2200" b="0">
                <a:solidFill>
                  <a:srgbClr val="3A4557"/>
                </a:solidFill>
                <a:latin typeface="Calibri"/>
              </a:defRPr>
            </a:pPr>
            <a:r>
              <a:t>runtime.py + ingestion/orchestrator.py → validation, stage order and status.</a:t>
            </a:r>
          </a:p>
          <a:p>
            <a:pPr>
              <a:spcAft>
                <a:spcPts val="1800"/>
              </a:spcAft>
              <a:defRPr sz="2200" b="0">
                <a:solidFill>
                  <a:srgbClr val="3A4557"/>
                </a:solidFill>
                <a:latin typeface="Calibri"/>
              </a:defRPr>
            </a:pPr>
            <a:r>
              <a:t>extraction package → PDF / OOXML readers and local OCR.</a:t>
            </a:r>
          </a:p>
          <a:p>
            <a:pPr>
              <a:spcAft>
                <a:spcPts val="1800"/>
              </a:spcAft>
              <a:defRPr sz="2200" b="0">
                <a:solidFill>
                  <a:srgbClr val="3A4557"/>
                </a:solidFill>
                <a:latin typeface="Calibri"/>
              </a:defRPr>
            </a:pPr>
            <a:r>
              <a:t>comprehensive.py → local NER, contextual rules and validators.</a:t>
            </a:r>
          </a:p>
          <a:p>
            <a:pPr>
              <a:spcAft>
                <a:spcPts val="1800"/>
              </a:spcAft>
              <a:defRPr sz="2200" b="0">
                <a:solidFill>
                  <a:srgbClr val="3A4557"/>
                </a:solidFill>
                <a:latin typeface="Calibri"/>
              </a:defRPr>
            </a:pPr>
            <a:r>
              <a:t>redactor.py + gate.py → span masking, rescan and release decision.</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Platform and integration</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Make independent components behave as one predictable pipeline.</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Own the lifecycle: validation → extraction → detection → redaction → verification.</a:t>
            </a:r>
          </a:p>
          <a:p>
            <a:pPr>
              <a:spcAft>
                <a:spcPts val="1800"/>
              </a:spcAft>
              <a:defRPr sz="2200" b="0">
                <a:solidFill>
                  <a:srgbClr val="3A4557"/>
                </a:solidFill>
                <a:latin typeface="Calibri"/>
              </a:defRPr>
            </a:pPr>
            <a:r>
              <a:t>Normalize document IDs, block references, source locations and confidence values.</a:t>
            </a:r>
          </a:p>
          <a:p>
            <a:pPr>
              <a:spcAft>
                <a:spcPts val="1800"/>
              </a:spcAft>
              <a:defRPr sz="2200" b="0">
                <a:solidFill>
                  <a:srgbClr val="3A4557"/>
                </a:solidFill>
                <a:latin typeface="Calibri"/>
              </a:defRPr>
            </a:pPr>
            <a:r>
              <a:t>Carry warnings forward instead of turning incomplete work into a success.</a:t>
            </a:r>
          </a:p>
          <a:p>
            <a:pPr>
              <a:spcAft>
                <a:spcPts val="1800"/>
              </a:spcAft>
              <a:defRPr sz="2200" b="0">
                <a:solidFill>
                  <a:srgbClr val="3A4557"/>
                </a:solidFill>
                <a:latin typeface="Calibri"/>
              </a:defRPr>
            </a:pPr>
            <a:r>
              <a:t>Return one response contract for the browser, CLI and acceptance runner.</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Reading uploaded files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Native text and OCR converge into the same block contract.</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PDF: read native characters; render scanned pages with PDFium for Tesseract OCR.</a:t>
            </a:r>
          </a:p>
          <a:p>
            <a:pPr>
              <a:spcAft>
                <a:spcPts val="1800"/>
              </a:spcAft>
              <a:defRPr sz="2200" b="0">
                <a:solidFill>
                  <a:srgbClr val="3A4557"/>
                </a:solidFill>
                <a:latin typeface="Calibri"/>
              </a:defRPr>
            </a:pPr>
            <a:r>
              <a:t>PPTX: inspect OOXML slide shapes, tables, notes and relevant embedded media.</a:t>
            </a:r>
          </a:p>
          <a:p>
            <a:pPr>
              <a:spcAft>
                <a:spcPts val="1800"/>
              </a:spcAft>
              <a:defRPr sz="2200" b="0">
                <a:solidFill>
                  <a:srgbClr val="3A4557"/>
                </a:solidFill>
                <a:latin typeface="Calibri"/>
              </a:defRPr>
            </a:pPr>
            <a:r>
              <a:t>DOCX: inspect OOXML paragraphs, tables, headers / footers and embedded media.</a:t>
            </a:r>
          </a:p>
          <a:p>
            <a:pPr>
              <a:spcAft>
                <a:spcPts val="1800"/>
              </a:spcAft>
              <a:defRPr sz="2200" b="0">
                <a:solidFill>
                  <a:srgbClr val="3A4557"/>
                </a:solidFill>
                <a:latin typeface="Calibri"/>
              </a:defRPr>
            </a:pPr>
            <a:r>
              <a:t>SVG / EMF: convert supported images locally before recognition.</a:t>
            </a:r>
          </a:p>
          <a:p>
            <a:pPr>
              <a:spcAft>
                <a:spcPts val="1800"/>
              </a:spcAft>
              <a:defRPr sz="2200" b="0">
                <a:solidFill>
                  <a:srgbClr val="3A4557"/>
                </a:solidFill>
                <a:latin typeface="Calibri"/>
              </a:defRPr>
            </a:pPr>
            <a:r>
              <a:t>Output: text + document / block ID + source location + quality warnings.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Document extraction and OCR</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Recover text with enough location information to review it.</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Prefer native text; use local OCR for scans and embedded images.</a:t>
            </a:r>
          </a:p>
          <a:p>
            <a:pPr>
              <a:spcAft>
                <a:spcPts val="1800"/>
              </a:spcAft>
              <a:defRPr sz="2200" b="0">
                <a:solidFill>
                  <a:srgbClr val="3A4557"/>
                </a:solidFill>
                <a:latin typeface="Calibri"/>
              </a:defRPr>
            </a:pPr>
            <a:r>
              <a:t>Preserve ordered blocks, table indices, source paths and word boxes.</a:t>
            </a:r>
          </a:p>
          <a:p>
            <a:pPr>
              <a:spcAft>
                <a:spcPts val="1800"/>
              </a:spcAft>
              <a:defRPr sz="2200" b="0">
                <a:solidFill>
                  <a:srgbClr val="3A4557"/>
                </a:solidFill>
                <a:latin typeface="Calibri"/>
              </a:defRPr>
            </a:pPr>
            <a:r>
              <a:t>Handle supported SVG / EMF media through local conversion.</a:t>
            </a:r>
          </a:p>
          <a:p>
            <a:pPr>
              <a:spcAft>
                <a:spcPts val="1800"/>
              </a:spcAft>
              <a:defRPr sz="2200" b="0">
                <a:solidFill>
                  <a:srgbClr val="3A4557"/>
                </a:solidFill>
                <a:latin typeface="Calibri"/>
              </a:defRPr>
            </a:pPr>
            <a:r>
              <a:t>Report unreadable regions, low confidence and incomplete extraction.</a:t>
            </a:r>
          </a:p>
          <a:p>
            <a:pPr>
              <a:spcAft>
                <a:spcPts val="1800"/>
              </a:spcAft>
              <a:defRPr sz="2200" b="0">
                <a:solidFill>
                  <a:srgbClr val="3A4557"/>
                </a:solidFill>
                <a:latin typeface="Calibri"/>
              </a:defRPr>
            </a:pPr>
            <a:r>
              <a:t>Do not equate “page processed” with “all information recovered”.</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Extraction differs by format</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The reader follows the file structure rather than treating every file as a page.</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PDF: recover native text where available; render and OCR scanned content.</a:t>
            </a:r>
          </a:p>
          <a:p>
            <a:pPr>
              <a:spcAft>
                <a:spcPts val="1800"/>
              </a:spcAft>
              <a:defRPr sz="2200" b="0">
                <a:solidFill>
                  <a:srgbClr val="3A4557"/>
                </a:solidFill>
                <a:latin typeface="Calibri"/>
              </a:defRPr>
            </a:pPr>
            <a:r>
              <a:t>PPTX: inspect shapes, tables, notes and relevant packaged media.</a:t>
            </a:r>
          </a:p>
          <a:p>
            <a:pPr>
              <a:spcAft>
                <a:spcPts val="1800"/>
              </a:spcAft>
              <a:defRPr sz="2200" b="0">
                <a:solidFill>
                  <a:srgbClr val="3A4557"/>
                </a:solidFill>
                <a:latin typeface="Calibri"/>
              </a:defRPr>
            </a:pPr>
            <a:r>
              <a:t>DOCX: inspect paragraphs, tables, headers / footers and embedded media.</a:t>
            </a:r>
          </a:p>
          <a:p>
            <a:pPr>
              <a:spcAft>
                <a:spcPts val="1800"/>
              </a:spcAft>
              <a:defRPr sz="2200" b="0">
                <a:solidFill>
                  <a:srgbClr val="3A4557"/>
                </a:solidFill>
                <a:latin typeface="Calibri"/>
              </a:defRPr>
            </a:pPr>
            <a:r>
              <a:t>Keep neighboring context and exact text offsets for later detection.</a:t>
            </a:r>
          </a:p>
          <a:p>
            <a:pPr>
              <a:spcAft>
                <a:spcPts val="1800"/>
              </a:spcAft>
              <a:defRPr sz="2200" b="0">
                <a:solidFill>
                  <a:srgbClr val="3A4557"/>
                </a:solidFill>
                <a:latin typeface="Calibri"/>
              </a:defRPr>
            </a:pPr>
            <a:r>
              <a:t>Retain warnings when conversion or recognition is uncertain.</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PII detection and classification</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Use several signals because personal information has different shapes.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Local named-entity recognition identifies likely people in natural language.</a:t>
            </a:r>
          </a:p>
          <a:p>
            <a:pPr>
              <a:spcAft>
                <a:spcPts val="1800"/>
              </a:spcAft>
              <a:defRPr sz="2200" b="0">
                <a:solidFill>
                  <a:srgbClr val="3A4557"/>
                </a:solidFill>
                <a:latin typeface="Calibri"/>
              </a:defRPr>
            </a:pPr>
            <a:r>
              <a:t>Contextual rules identify labels, contact details and organization-specific IDs.</a:t>
            </a:r>
          </a:p>
          <a:p>
            <a:pPr>
              <a:spcAft>
                <a:spcPts val="1800"/>
              </a:spcAft>
              <a:defRPr sz="2200" b="0">
                <a:solidFill>
                  <a:srgbClr val="3A4557"/>
                </a:solidFill>
                <a:latin typeface="Calibri"/>
              </a:defRPr>
            </a:pPr>
            <a:r>
              <a:t>Validators check dates and payment-card checksums where applicable.</a:t>
            </a:r>
          </a:p>
          <a:p>
            <a:pPr>
              <a:spcAft>
                <a:spcPts val="1800"/>
              </a:spcAft>
              <a:defRPr sz="2200" b="0">
                <a:solidFill>
                  <a:srgbClr val="3A4557"/>
                </a:solidFill>
                <a:latin typeface="Calibri"/>
              </a:defRPr>
            </a:pPr>
            <a:r>
              <a:t>Document-local aliases connect repeated names and initials.</a:t>
            </a:r>
          </a:p>
          <a:p>
            <a:pPr>
              <a:spcAft>
                <a:spcPts val="1800"/>
              </a:spcAft>
              <a:defRPr sz="2200" b="0">
                <a:solidFill>
                  <a:srgbClr val="3A4557"/>
                </a:solidFill>
                <a:latin typeface="Calibri"/>
              </a:defRPr>
            </a:pPr>
            <a:r>
              <a:t>Each finding keeps a type, block reference and exact character span.</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PII categories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Fourteen categories cover the implemented text recognizers.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Identity: person, employee ID, director ID, vendor-person ID.</a:t>
            </a:r>
          </a:p>
          <a:p>
            <a:pPr>
              <a:spcAft>
                <a:spcPts val="1800"/>
              </a:spcAft>
              <a:defRPr sz="2200" b="0">
                <a:solidFill>
                  <a:srgbClr val="3A4557"/>
                </a:solidFill>
                <a:latin typeface="Calibri"/>
              </a:defRPr>
            </a:pPr>
            <a:r>
              <a:t>Contact: email, phone, home address.</a:t>
            </a:r>
          </a:p>
          <a:p>
            <a:pPr>
              <a:spcAft>
                <a:spcPts val="1800"/>
              </a:spcAft>
              <a:defRPr sz="2200" b="0">
                <a:solidFill>
                  <a:srgbClr val="3A4557"/>
                </a:solidFill>
                <a:latin typeface="Calibri"/>
              </a:defRPr>
            </a:pPr>
            <a:r>
              <a:t>Personal: date of birth, national ID, tax ID, passport.</a:t>
            </a:r>
          </a:p>
          <a:p>
            <a:pPr>
              <a:spcAft>
                <a:spcPts val="1800"/>
              </a:spcAft>
              <a:defRPr sz="2200" b="0">
                <a:solidFill>
                  <a:srgbClr val="3A4557"/>
                </a:solidFill>
                <a:latin typeface="Calibri"/>
              </a:defRPr>
            </a:pPr>
            <a:r>
              <a:t>Financial: bank account, payment card, partial identifier.</a:t>
            </a:r>
          </a:p>
          <a:p>
            <a:pPr>
              <a:spcAft>
                <a:spcPts val="1800"/>
              </a:spcAft>
              <a:defRPr sz="2200" b="0">
                <a:solidFill>
                  <a:srgbClr val="3A4557"/>
                </a:solidFill>
                <a:latin typeface="Calibri"/>
              </a:defRPr>
            </a:pPr>
            <a:r>
              <a:t>Repeated mentions count separately; business dates and control IDs are negative examples.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PII detection: from text to findings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Different signals address formatted identifiers and natural-language names.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1. Read each normalized block while preserving Unicode character positions.</a:t>
            </a:r>
          </a:p>
          <a:p>
            <a:pPr>
              <a:spcAft>
                <a:spcPts val="1800"/>
              </a:spcAft>
              <a:defRPr sz="2200" b="0">
                <a:solidFill>
                  <a:srgbClr val="3A4557"/>
                </a:solidFill>
                <a:latin typeface="Calibri"/>
              </a:defRPr>
            </a:pPr>
            <a:r>
              <a:t>2. Recognize likely people using the local spaCy English NER model.</a:t>
            </a:r>
          </a:p>
          <a:p>
            <a:pPr>
              <a:spcAft>
                <a:spcPts val="1800"/>
              </a:spcAft>
              <a:defRPr sz="2200" b="0">
                <a:solidFill>
                  <a:srgbClr val="3A4557"/>
                </a:solidFill>
                <a:latin typeface="Calibri"/>
              </a:defRPr>
            </a:pPr>
            <a:r>
              <a:t>3. Apply patterns, nearby labels, date checks and relevant checksum validators.</a:t>
            </a:r>
          </a:p>
          <a:p>
            <a:pPr>
              <a:spcAft>
                <a:spcPts val="1800"/>
              </a:spcAft>
              <a:defRPr sz="2200" b="0">
                <a:solidFill>
                  <a:srgbClr val="3A4557"/>
                </a:solidFill>
                <a:latin typeface="Calibri"/>
              </a:defRPr>
            </a:pPr>
            <a:r>
              <a:t>4. Resolve document-local names / aliases and retain repeated occurrences.</a:t>
            </a:r>
          </a:p>
          <a:p>
            <a:pPr>
              <a:spcAft>
                <a:spcPts val="1800"/>
              </a:spcAft>
              <a:defRPr sz="2200" b="0">
                <a:solidFill>
                  <a:srgbClr val="3A4557"/>
                </a:solidFill>
                <a:latin typeface="Calibri"/>
              </a:defRPr>
            </a:pPr>
            <a:r>
              <a:t>5. Return category, block reference and exact start / end offsets.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Redaction and release controls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A finding is only useful if masking cannot leave a sensitive tail behind.</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Validate span types, bounds, confidence and document / block identity.</a:t>
            </a:r>
          </a:p>
          <a:p>
            <a:pPr>
              <a:spcAft>
                <a:spcPts val="1800"/>
              </a:spcAft>
              <a:defRPr sz="2200" b="0">
                <a:solidFill>
                  <a:srgbClr val="3A4557"/>
                </a:solidFill>
                <a:latin typeface="Calibri"/>
              </a:defRPr>
            </a:pPr>
            <a:r>
              <a:t>Merge crossing and transitive overlaps into their full covered range.</a:t>
            </a:r>
          </a:p>
          <a:p>
            <a:pPr>
              <a:spcAft>
                <a:spcPts val="1800"/>
              </a:spcAft>
              <a:defRPr sz="2200" b="0">
                <a:solidFill>
                  <a:srgbClr val="3A4557"/>
                </a:solidFill>
                <a:latin typeface="Calibri"/>
              </a:defRPr>
            </a:pPr>
            <a:r>
              <a:t>Apply replacements from right to left to preserve original offsets.</a:t>
            </a:r>
          </a:p>
          <a:p>
            <a:pPr>
              <a:spcAft>
                <a:spcPts val="1800"/>
              </a:spcAft>
              <a:defRPr sz="2200" b="0">
                <a:solidFill>
                  <a:srgbClr val="3A4557"/>
                </a:solidFill>
                <a:latin typeface="Calibri"/>
              </a:defRPr>
            </a:pPr>
            <a:r>
              <a:t>Keep typed placeholders consistent within the document.</a:t>
            </a:r>
          </a:p>
          <a:p>
            <a:pPr>
              <a:spcAft>
                <a:spcPts val="1800"/>
              </a:spcAft>
              <a:defRPr sz="2200" b="0">
                <a:solidFill>
                  <a:srgbClr val="3A4557"/>
                </a:solidFill>
                <a:latin typeface="Calibri"/>
              </a:defRPr>
            </a:pPr>
            <a:r>
              <a:t>Exclude reversible mappings and raw OCR metadata from public results.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The release gate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“No findings” is not enough to approve a document.</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Rescan masked text with the integrated detector and independent patterns.</a:t>
            </a:r>
          </a:p>
          <a:p>
            <a:pPr>
              <a:spcAft>
                <a:spcPts val="1800"/>
              </a:spcAft>
              <a:defRPr sz="2200" b="0">
                <a:solidFill>
                  <a:srgbClr val="3A4557"/>
                </a:solidFill>
                <a:latin typeface="Calibri"/>
              </a:defRPr>
            </a:pPr>
            <a:r>
              <a:t>Check known original sensitive spans for surviving values.</a:t>
            </a:r>
          </a:p>
          <a:p>
            <a:pPr>
              <a:spcAft>
                <a:spcPts val="1800"/>
              </a:spcAft>
              <a:defRPr sz="2200" b="0">
                <a:solidFill>
                  <a:srgbClr val="3A4557"/>
                </a:solidFill>
                <a:latin typeface="Calibri"/>
              </a:defRPr>
            </a:pPr>
            <a:r>
              <a:t>Require complete extraction, available recognizers and acceptable quality.</a:t>
            </a:r>
          </a:p>
          <a:p>
            <a:pPr>
              <a:spcAft>
                <a:spcPts val="1800"/>
              </a:spcAft>
              <a:defRPr sz="2200" b="0">
                <a:solidFill>
                  <a:srgbClr val="3A4557"/>
                </a:solidFill>
                <a:latin typeface="Calibri"/>
              </a:defRPr>
            </a:pPr>
            <a:r>
              <a:t>Block downloads for unresolved PII, missing models or incomplete content.</a:t>
            </a:r>
          </a:p>
          <a:p>
            <a:pPr>
              <a:spcAft>
                <a:spcPts val="1800"/>
              </a:spcAft>
              <a:defRPr sz="2200" b="0">
                <a:solidFill>
                  <a:srgbClr val="3A4557"/>
                </a:solidFill>
                <a:latin typeface="Calibri"/>
              </a:defRPr>
            </a:pPr>
            <a:r>
              <a:t>Keep a local preview available so a reviewer can investigate.</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Application and reviewer experience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Show enough information for a person to understand the decision.</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Upload a real PDF, PPTX or DOCX, with a 50 MB limit.</a:t>
            </a:r>
          </a:p>
          <a:p>
            <a:pPr>
              <a:spcAft>
                <a:spcPts val="1800"/>
              </a:spcAft>
              <a:defRPr sz="2200" b="0">
                <a:solidFill>
                  <a:srgbClr val="3A4557"/>
                </a:solidFill>
                <a:latin typeface="Calibri"/>
              </a:defRPr>
            </a:pPr>
            <a:r>
              <a:t>Follow stage progress; inspect categories, locations and masked text.</a:t>
            </a:r>
          </a:p>
          <a:p>
            <a:pPr>
              <a:spcAft>
                <a:spcPts val="1800"/>
              </a:spcAft>
              <a:defRPr sz="2200" b="0">
                <a:solidFill>
                  <a:srgbClr val="3A4557"/>
                </a:solidFill>
                <a:latin typeface="Calibri"/>
              </a:defRPr>
            </a:pPr>
            <a:r>
              <a:t>Expand extraction notes and original-text inspection only when needed.</a:t>
            </a:r>
          </a:p>
          <a:p>
            <a:pPr>
              <a:spcAft>
                <a:spcPts val="1800"/>
              </a:spcAft>
              <a:defRPr sz="2200" b="0">
                <a:solidFill>
                  <a:srgbClr val="3A4557"/>
                </a:solidFill>
                <a:latin typeface="Calibri"/>
              </a:defRPr>
            </a:pPr>
            <a:r>
              <a:t>Enable checked-text download only for approved jobs.</a:t>
            </a:r>
          </a:p>
          <a:p>
            <a:pPr>
              <a:spcAft>
                <a:spcPts val="1800"/>
              </a:spcAft>
              <a:defRPr sz="2200" b="0">
                <a:solidFill>
                  <a:srgbClr val="3A4557"/>
                </a:solidFill>
                <a:latin typeface="Calibri"/>
              </a:defRPr>
            </a:pPr>
            <a:r>
              <a:t>Use a local session token and validate host / origin on API requests.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Backend processing and response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The application receives one consistent result from the runtime.</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Upload bytes → file validation → per-request extraction and detection context.</a:t>
            </a:r>
          </a:p>
          <a:p>
            <a:pPr>
              <a:spcAft>
                <a:spcPts val="1800"/>
              </a:spcAft>
              <a:defRPr sz="2200" b="0">
                <a:solidFill>
                  <a:srgbClr val="3A4557"/>
                </a:solidFill>
                <a:latin typeface="Calibri"/>
              </a:defRPr>
            </a:pPr>
            <a:r>
              <a:t>Adapters reconcile confidence scales, document IDs and block references.</a:t>
            </a:r>
          </a:p>
          <a:p>
            <a:pPr>
              <a:spcAft>
                <a:spcPts val="1800"/>
              </a:spcAft>
              <a:defRPr sz="2200" b="0">
                <a:solidFill>
                  <a:srgbClr val="3A4557"/>
                </a:solidFill>
                <a:latin typeface="Calibri"/>
              </a:defRPr>
            </a:pPr>
            <a:r>
              <a:t>Redaction produces a masked preview; verification produces the release state.</a:t>
            </a:r>
          </a:p>
          <a:p>
            <a:pPr>
              <a:spcAft>
                <a:spcPts val="1800"/>
              </a:spcAft>
              <a:defRPr sz="2200" b="0">
                <a:solidFill>
                  <a:srgbClr val="3A4557"/>
                </a:solidFill>
                <a:latin typeface="Calibri"/>
              </a:defRPr>
            </a:pPr>
            <a:r>
              <a:t>Browser polls the job for stage progress, counts, locations and warnings.</a:t>
            </a:r>
          </a:p>
          <a:p>
            <a:pPr>
              <a:spcAft>
                <a:spcPts val="1800"/>
              </a:spcAft>
              <a:defRPr sz="2200" b="0">
                <a:solidFill>
                  <a:srgbClr val="3A4557"/>
                </a:solidFill>
                <a:latin typeface="Calibri"/>
              </a:defRPr>
            </a:pPr>
            <a:r>
              <a:t>Download route enforces approval; original text requires explicit local inspection.</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Evaluation and quality assurance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Measure the result against labels that were created independently.</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Precision = correct detections / all detections.</a:t>
            </a:r>
          </a:p>
          <a:p>
            <a:pPr>
              <a:spcAft>
                <a:spcPts val="1800"/>
              </a:spcAft>
              <a:defRPr sz="2200" b="0">
                <a:solidFill>
                  <a:srgbClr val="3A4557"/>
                </a:solidFill>
                <a:latin typeface="Calibri"/>
              </a:defRPr>
            </a:pPr>
            <a:r>
              <a:t>Recall = correct detections / all labeled sensitive occurrences.</a:t>
            </a:r>
          </a:p>
          <a:p>
            <a:pPr>
              <a:spcAft>
                <a:spcPts val="1800"/>
              </a:spcAft>
              <a:defRPr sz="2200" b="0">
                <a:solidFill>
                  <a:srgbClr val="3A4557"/>
                </a:solidFill>
                <a:latin typeface="Calibri"/>
              </a:defRPr>
            </a:pPr>
            <a:r>
              <a:t>F1 balances precision and recall; exact matching checks type and span.</a:t>
            </a:r>
          </a:p>
          <a:p>
            <a:pPr>
              <a:spcAft>
                <a:spcPts val="1800"/>
              </a:spcAft>
              <a:defRPr sz="2200" b="0">
                <a:solidFill>
                  <a:srgbClr val="3A4557"/>
                </a:solidFill>
                <a:latin typeface="Calibri"/>
              </a:defRPr>
            </a:pPr>
            <a:r>
              <a:t>Structure review checks headings, order, tables and neighboring context.</a:t>
            </a:r>
          </a:p>
          <a:p>
            <a:pPr>
              <a:spcAft>
                <a:spcPts val="1800"/>
              </a:spcAft>
              <a:defRPr sz="2200" b="0">
                <a:solidFill>
                  <a:srgbClr val="3A4557"/>
                </a:solidFill>
                <a:latin typeface="Calibri"/>
              </a:defRPr>
            </a:pPr>
            <a:r>
              <a:t>Report the dataset, denominator and known limitations with every claim.</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Validation results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Passing checks support specific claims, not universal accuracy.</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288 regression tests passed, with no failures, errors or skips.</a:t>
            </a:r>
          </a:p>
          <a:p>
            <a:pPr>
              <a:spcAft>
                <a:spcPts val="1800"/>
              </a:spcAft>
              <a:defRPr sz="2200" b="0">
                <a:solidFill>
                  <a:srgbClr val="3A4557"/>
                </a:solidFill>
                <a:latin typeface="Calibri"/>
              </a:defRPr>
            </a:pPr>
            <a:r>
              <a:t>12 acceptance checks passed for valid and invalid file workflows.</a:t>
            </a:r>
          </a:p>
          <a:p>
            <a:pPr>
              <a:spcAft>
                <a:spcPts val="1800"/>
              </a:spcAft>
              <a:defRPr sz="2200" b="0">
                <a:solidFill>
                  <a:srgbClr val="3A4557"/>
                </a:solidFill>
                <a:latin typeface="Calibri"/>
              </a:defRPr>
            </a:pPr>
            <a:r>
              <a:t>The labeled synthetic fixture: 18/18 exact matches, zero false positives.</a:t>
            </a:r>
          </a:p>
          <a:p>
            <a:pPr>
              <a:spcAft>
                <a:spcPts val="1800"/>
              </a:spcAft>
              <a:defRPr sz="2200" b="0">
                <a:solidFill>
                  <a:srgbClr val="3A4557"/>
                </a:solidFill>
                <a:latin typeface="Calibri"/>
              </a:defRPr>
            </a:pPr>
            <a:r>
              <a:t>Browser checks verified upload, progress, download and blocked export.</a:t>
            </a:r>
          </a:p>
          <a:p>
            <a:pPr>
              <a:spcAft>
                <a:spcPts val="1800"/>
              </a:spcAft>
              <a:defRPr sz="2200" b="0">
                <a:solidFill>
                  <a:srgbClr val="3A4557"/>
                </a:solidFill>
                <a:latin typeface="Calibri"/>
              </a:defRPr>
            </a:pPr>
            <a:r>
              <a:t>Full-source recall and ≥80% structure still require independent review.</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Test coverage</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Test failure paths as carefully as the happy path.</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Files: valid, empty, corrupt, encrypted, unsupported and mismatched type.</a:t>
            </a:r>
          </a:p>
          <a:p>
            <a:pPr>
              <a:spcAft>
                <a:spcPts val="1800"/>
              </a:spcAft>
              <a:defRPr sz="2200" b="0">
                <a:solidFill>
                  <a:srgbClr val="3A4557"/>
                </a:solidFill>
                <a:latin typeface="Calibri"/>
              </a:defRPr>
            </a:pPr>
            <a:r>
              <a:t>Detection: Unicode offsets, aliases, repeated mentions and business negatives.</a:t>
            </a:r>
          </a:p>
          <a:p>
            <a:pPr>
              <a:spcAft>
                <a:spcPts val="1800"/>
              </a:spcAft>
              <a:defRPr sz="2200" b="0">
                <a:solidFill>
                  <a:srgbClr val="3A4557"/>
                </a:solidFill>
                <a:latin typeface="Calibri"/>
              </a:defRPr>
            </a:pPr>
            <a:r>
              <a:t>Masking: invalid spans, overlapping ranges and immutable findings.</a:t>
            </a:r>
          </a:p>
          <a:p>
            <a:pPr>
              <a:spcAft>
                <a:spcPts val="1800"/>
              </a:spcAft>
              <a:defRPr sz="2200" b="0">
                <a:solidFill>
                  <a:srgbClr val="3A4557"/>
                </a:solidFill>
                <a:latin typeface="Calibri"/>
              </a:defRPr>
            </a:pPr>
            <a:r>
              <a:t>Gate: missing NER, incomplete extraction and residual identifiers.</a:t>
            </a:r>
          </a:p>
          <a:p>
            <a:pPr>
              <a:spcAft>
                <a:spcPts val="1800"/>
              </a:spcAft>
              <a:defRPr sz="2200" b="0">
                <a:solidFill>
                  <a:srgbClr val="3A4557"/>
                </a:solidFill>
                <a:latin typeface="Calibri"/>
              </a:defRPr>
            </a:pPr>
            <a:r>
              <a:t>Web: unauthorized access, cross-origin requests and blocked downloads.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Integration improvements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The difficult work was joining real behavior and preserving failure evidence.</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Connected real readers and recognizers instead of a fixture-only flow.</a:t>
            </a:r>
          </a:p>
          <a:p>
            <a:pPr>
              <a:spcAft>
                <a:spcPts val="1800"/>
              </a:spcAft>
              <a:defRPr sz="2200" b="0">
                <a:solidFill>
                  <a:srgbClr val="3A4557"/>
                </a:solidFill>
                <a:latin typeface="Calibri"/>
              </a:defRPr>
            </a:pPr>
            <a:r>
              <a:t>Translated confidence scales and normalized IDs across component boundaries.</a:t>
            </a:r>
          </a:p>
          <a:p>
            <a:pPr>
              <a:spcAft>
                <a:spcPts val="1800"/>
              </a:spcAft>
              <a:defRPr sz="2200" b="0">
                <a:solidFill>
                  <a:srgbClr val="3A4557"/>
                </a:solidFill>
                <a:latin typeface="Calibri"/>
              </a:defRPr>
            </a:pPr>
            <a:r>
              <a:t>Fixed overlap masking, invalid spans and raw metadata exposure.</a:t>
            </a:r>
          </a:p>
          <a:p>
            <a:pPr>
              <a:spcAft>
                <a:spcPts val="1800"/>
              </a:spcAft>
              <a:defRPr sz="2200" b="0">
                <a:solidFill>
                  <a:srgbClr val="3A4557"/>
                </a:solidFill>
                <a:latin typeface="Calibri"/>
              </a:defRPr>
            </a:pPr>
            <a:r>
              <a:t>Expanded verification beyond simple email and phone patterns.</a:t>
            </a:r>
          </a:p>
          <a:p>
            <a:pPr>
              <a:spcAft>
                <a:spcPts val="1800"/>
              </a:spcAft>
              <a:defRPr sz="2200" b="0">
                <a:solidFill>
                  <a:srgbClr val="3A4557"/>
                </a:solidFill>
                <a:latin typeface="Calibri"/>
              </a:defRPr>
            </a:pPr>
            <a:r>
              <a:t>Made missing dependencies and incomplete extraction block export.</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Limits and next steps</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The remaining work is evidence and review, not a claim of perfect detection.</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Adjudicate full-source PII labels and inspect missed / false detections.</a:t>
            </a:r>
          </a:p>
          <a:p>
            <a:pPr>
              <a:spcAft>
                <a:spcPts val="1800"/>
              </a:spcAft>
              <a:defRPr sz="2200" b="0">
                <a:solidFill>
                  <a:srgbClr val="3A4557"/>
                </a:solidFill>
                <a:latin typeface="Calibri"/>
              </a:defRPr>
            </a:pPr>
            <a:r>
              <a:t>Score structure against original pages, charts and table relationships.</a:t>
            </a:r>
          </a:p>
          <a:p>
            <a:pPr>
              <a:spcAft>
                <a:spcPts val="1800"/>
              </a:spcAft>
              <a:defRPr sz="2200" b="0">
                <a:solidFill>
                  <a:srgbClr val="3A4557"/>
                </a:solidFill>
                <a:latin typeface="Calibri"/>
              </a:defRPr>
            </a:pPr>
            <a:r>
              <a:t>Improve OCR for small screenshots and unfamiliar document layouts.</a:t>
            </a:r>
          </a:p>
          <a:p>
            <a:pPr>
              <a:spcAft>
                <a:spcPts val="1800"/>
              </a:spcAft>
              <a:defRPr sz="2200" b="0">
                <a:solidFill>
                  <a:srgbClr val="3A4557"/>
                </a:solidFill>
                <a:latin typeface="Calibri"/>
              </a:defRPr>
            </a:pPr>
            <a:r>
              <a:t>Text export excludes visual PII; original-file redaction is a separate feature.</a:t>
            </a:r>
          </a:p>
          <a:p>
            <a:pPr>
              <a:spcAft>
                <a:spcPts val="1800"/>
              </a:spcAft>
              <a:defRPr sz="2200" b="0">
                <a:solidFill>
                  <a:srgbClr val="3A4557"/>
                </a:solidFill>
                <a:latin typeface="Calibri"/>
              </a:defRPr>
            </a:pPr>
            <a:r>
              <a:t>Production hosting needs authentication, TLS, isolation and retention controls.</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Example: organizational PowerPoint</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A contact email is sensitive; its reporting context remains useful.</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SOURCE: Organizational Pack, slide 3, shape 12, paragraph 1.</a:t>
            </a:r>
          </a:p>
          <a:p>
            <a:pPr>
              <a:spcAft>
                <a:spcPts val="1800"/>
              </a:spcAft>
              <a:defRPr sz="2200" b="0">
                <a:solidFill>
                  <a:srgbClr val="3A4557"/>
                </a:solidFill>
                <a:latin typeface="Calibri"/>
              </a:defRPr>
            </a:pPr>
            <a:r>
              <a:t>EXTRACTED: m.vossberg@cadencefg.example</a:t>
            </a:r>
          </a:p>
          <a:p>
            <a:pPr>
              <a:spcAft>
                <a:spcPts val="1800"/>
              </a:spcAft>
              <a:defRPr sz="2200" b="0">
                <a:solidFill>
                  <a:srgbClr val="3A4557"/>
                </a:solidFill>
                <a:latin typeface="Calibri"/>
              </a:defRPr>
            </a:pPr>
            <a:r>
              <a:t>MASKED EXAMPLE: [EMAIL_1]</a:t>
            </a:r>
          </a:p>
          <a:p>
            <a:pPr>
              <a:spcAft>
                <a:spcPts val="1800"/>
              </a:spcAft>
              <a:defRPr sz="2200" b="0">
                <a:solidFill>
                  <a:srgbClr val="3A4557"/>
                </a:solidFill>
                <a:latin typeface="Calibri"/>
              </a:defRPr>
            </a:pPr>
            <a:r>
              <a:t>Keep the slide / shape location so a reviewer can find the original.</a:t>
            </a:r>
          </a:p>
          <a:p>
            <a:pPr>
              <a:spcAft>
                <a:spcPts val="1800"/>
              </a:spcAft>
              <a:defRPr sz="2200" b="0">
                <a:solidFill>
                  <a:srgbClr val="3A4557"/>
                </a:solidFill>
                <a:latin typeface="Calibri"/>
              </a:defRPr>
            </a:pPr>
            <a:r>
              <a:t>Do not remove the entire organizational chart just to mask a contact.</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Example: scanned risk policy</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One OCR line contains an email and two phone numbers.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SOURCE: Risk Management Policy, page 1, OCR line 8.</a:t>
            </a:r>
          </a:p>
          <a:p>
            <a:pPr>
              <a:spcAft>
                <a:spcPts val="1800"/>
              </a:spcAft>
              <a:defRPr sz="2200" b="0">
                <a:solidFill>
                  <a:srgbClr val="3A4557"/>
                </a:solidFill>
                <a:latin typeface="Calibri"/>
              </a:defRPr>
            </a:pPr>
            <a:r>
              <a:t>EXTRACTED: m.achebe@cadencefg.com | +1 (212) 555-0147 | mobile +1 (917) 555-0143</a:t>
            </a:r>
          </a:p>
          <a:p>
            <a:pPr>
              <a:spcAft>
                <a:spcPts val="1800"/>
              </a:spcAft>
              <a:defRPr sz="2200" b="0">
                <a:solidFill>
                  <a:srgbClr val="3A4557"/>
                </a:solidFill>
                <a:latin typeface="Calibri"/>
              </a:defRPr>
            </a:pPr>
            <a:r>
              <a:t>MASKED EXAMPLE: [EMAIL_1] | [PHONE_1] | mobile [PHONE_2]</a:t>
            </a:r>
          </a:p>
          <a:p>
            <a:pPr>
              <a:spcAft>
                <a:spcPts val="1800"/>
              </a:spcAft>
              <a:defRPr sz="2200" b="0">
                <a:solidFill>
                  <a:srgbClr val="3A4557"/>
                </a:solidFill>
                <a:latin typeface="Calibri"/>
              </a:defRPr>
            </a:pPr>
            <a:r>
              <a:t>Keep the word “mobile”, the separators and the page location.</a:t>
            </a:r>
          </a:p>
          <a:p>
            <a:pPr>
              <a:spcAft>
                <a:spcPts val="1800"/>
              </a:spcAft>
              <a:defRPr sz="2200" b="0">
                <a:solidFill>
                  <a:srgbClr val="3A4557"/>
                </a:solidFill>
                <a:latin typeface="Calibri"/>
              </a:defRPr>
            </a:pPr>
            <a:r>
              <a:t>A readable line does not prove the rest of the scan is complete.</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Example: TPRM training document</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Business process language should survive the privacy review.</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SOURCE: TPRM Training, document paragraph 12.</a:t>
            </a:r>
          </a:p>
          <a:p>
            <a:pPr>
              <a:spcAft>
                <a:spcPts val="1800"/>
              </a:spcAft>
              <a:defRPr sz="2200" b="0">
                <a:solidFill>
                  <a:srgbClr val="3A4557"/>
                </a:solidFill>
                <a:latin typeface="Calibri"/>
              </a:defRPr>
            </a:pPr>
            <a:r>
              <a:t>“Establishing vendor onboarding attributes to streamline supplier risk processes.”</a:t>
            </a:r>
          </a:p>
          <a:p>
            <a:pPr>
              <a:spcAft>
                <a:spcPts val="1800"/>
              </a:spcAft>
              <a:defRPr sz="2200" b="0">
                <a:solidFill>
                  <a:srgbClr val="3A4557"/>
                </a:solidFill>
                <a:latin typeface="Calibri"/>
              </a:defRPr>
            </a:pPr>
            <a:r>
              <a:t>This sentence describes work; it does not identify a particular person.</a:t>
            </a:r>
          </a:p>
          <a:p>
            <a:pPr>
              <a:spcAft>
                <a:spcPts val="1800"/>
              </a:spcAft>
              <a:defRPr sz="2200" b="0">
                <a:solidFill>
                  <a:srgbClr val="3A4557"/>
                </a:solidFill>
                <a:latin typeface="Calibri"/>
              </a:defRPr>
            </a:pPr>
            <a:r>
              <a:t>Preserve it while inspecting nearby tables and screenshots for identifiers.</a:t>
            </a:r>
          </a:p>
          <a:p>
            <a:pPr>
              <a:spcAft>
                <a:spcPts val="1800"/>
              </a:spcAft>
              <a:defRPr sz="2200" b="0">
                <a:solidFill>
                  <a:srgbClr val="3A4557"/>
                </a:solidFill>
                <a:latin typeface="Calibri"/>
              </a:defRPr>
            </a:pPr>
            <a:r>
              <a:t>A clean paragraph is not evidence that every embedded image is clean.</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Example: retain the table relationship</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Location metadata makes a finding explainable in a long Word document.</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SOURCE: TPRM Training, table 13, row 1, column 2.</a:t>
            </a:r>
          </a:p>
          <a:p>
            <a:pPr>
              <a:spcAft>
                <a:spcPts val="1800"/>
              </a:spcAft>
              <a:defRPr sz="2200" b="0">
                <a:solidFill>
                  <a:srgbClr val="3A4557"/>
                </a:solidFill>
                <a:latin typeface="Calibri"/>
              </a:defRPr>
            </a:pPr>
            <a:r>
              <a:t>“When a new assessment is sent to the Primary Vendor Contact, it must be completed within the specified timeline.”</a:t>
            </a:r>
          </a:p>
          <a:p>
            <a:pPr>
              <a:spcAft>
                <a:spcPts val="1800"/>
              </a:spcAft>
              <a:defRPr sz="2200" b="0">
                <a:solidFill>
                  <a:srgbClr val="3A4557"/>
                </a:solidFill>
                <a:latin typeface="Calibri"/>
              </a:defRPr>
            </a:pPr>
            <a:r>
              <a:t>Primary Vendor Contact is a role label, not a named individual here.</a:t>
            </a:r>
          </a:p>
          <a:p>
            <a:pPr>
              <a:spcAft>
                <a:spcPts val="1800"/>
              </a:spcAft>
              <a:defRPr sz="2200" b="0">
                <a:solidFill>
                  <a:srgbClr val="3A4557"/>
                </a:solidFill>
                <a:latin typeface="Calibri"/>
              </a:defRPr>
            </a:pPr>
            <a:r>
              <a:t>Keep the workflow instruction and its row / column association.</a:t>
            </a:r>
          </a:p>
          <a:p>
            <a:pPr>
              <a:spcAft>
                <a:spcPts val="1800"/>
              </a:spcAft>
              <a:defRPr sz="2200" b="0">
                <a:solidFill>
                  <a:srgbClr val="3A4557"/>
                </a:solidFill>
                <a:latin typeface="Calibri"/>
              </a:defRPr>
            </a:pPr>
            <a:r>
              <a:t>If a real contact name appears elsewhere, mask that specific span.</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1064240" cy="502920"/>
          </a:xfrm>
          <a:prstGeom prst="rect">
            <a:avLst/>
          </a:prstGeom>
          <a:noFill/>
        </p:spPr>
        <p:txBody>
          <a:bodyPr wrap="square">
            <a:spAutoFit/>
          </a:bodyPr>
          <a:lstStyle/>
          <a:p>
            <a:pPr>
              <a:spcAft>
                <a:spcPts val="1800"/>
              </a:spcAft>
              <a:defRPr sz="2600" b="0">
                <a:solidFill>
                  <a:srgbClr val="FFFFFF"/>
                </a:solidFill>
                <a:latin typeface="Georgia"/>
              </a:defRPr>
            </a:pPr>
            <a:r>
              <a:t>Implementation novelty</a:t>
            </a:r>
          </a:p>
        </p:txBody>
      </p:sp>
      <p:sp>
        <p:nvSpPr>
          <p:cNvPr id="5" name="TextBox 4"/>
          <p:cNvSpPr txBox="1"/>
          <p:nvPr/>
        </p:nvSpPr>
        <p:spPr>
          <a:xfrm>
            <a:off x="521207" y="594360"/>
            <a:ext cx="10972800" cy="274320"/>
          </a:xfrm>
          <a:prstGeom prst="rect">
            <a:avLst/>
          </a:prstGeom>
          <a:noFill/>
        </p:spPr>
        <p:txBody>
          <a:bodyPr wrap="square">
            <a:spAutoFit/>
          </a:bodyPr>
          <a:lstStyle/>
          <a:p>
            <a:pPr>
              <a:spcAft>
                <a:spcPts val="300"/>
              </a:spcAft>
              <a:defRPr sz="1000" b="0">
                <a:solidFill>
                  <a:srgbClr val="C8A34B"/>
                </a:solidFill>
                <a:latin typeface="Calibri"/>
              </a:defRPr>
            </a:pPr>
            <a:r>
              <a:t>CADDET | TEXT ANALYSIS AND PII DETECTION</a:t>
            </a:r>
          </a:p>
        </p:txBody>
      </p:sp>
      <p:sp>
        <p:nvSpPr>
          <p:cNvPr id="6" name="TextBox 5"/>
          <p:cNvSpPr txBox="1"/>
          <p:nvPr/>
        </p:nvSpPr>
        <p:spPr>
          <a:xfrm>
            <a:off x="548640" y="1234440"/>
            <a:ext cx="11064240" cy="731520"/>
          </a:xfrm>
          <a:prstGeom prst="rect">
            <a:avLst/>
          </a:prstGeom>
          <a:noFill/>
        </p:spPr>
        <p:txBody>
          <a:bodyPr wrap="square">
            <a:spAutoFit/>
          </a:bodyPr>
          <a:lstStyle/>
          <a:p>
            <a:pPr>
              <a:spcAft>
                <a:spcPts val="1800"/>
              </a:spcAft>
              <a:defRPr sz="2100" b="0">
                <a:solidFill>
                  <a:srgbClr val="12284C"/>
                </a:solidFill>
                <a:latin typeface="Georgia"/>
              </a:defRPr>
            </a:pPr>
            <a:r>
              <a:t>Our contribution is a traceable release decision across mixed evidence formats.</a:t>
            </a:r>
          </a:p>
        </p:txBody>
      </p:sp>
      <p:sp>
        <p:nvSpPr>
          <p:cNvPr id="7" name="Rectangle 6"/>
          <p:cNvSpPr/>
          <p:nvPr/>
        </p:nvSpPr>
        <p:spPr>
          <a:xfrm>
            <a:off x="548640" y="2194560"/>
            <a:ext cx="41148" cy="3657600"/>
          </a:xfrm>
          <a:prstGeom prst="rect">
            <a:avLst/>
          </a:prstGeom>
          <a:solidFill>
            <a:srgbClr val="C8A34B"/>
          </a:solidFill>
          <a:ln>
            <a:solidFill>
              <a:srgbClr val="C8A3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652760" cy="3886200"/>
          </a:xfrm>
          <a:prstGeom prst="rect">
            <a:avLst/>
          </a:prstGeom>
          <a:noFill/>
        </p:spPr>
        <p:txBody>
          <a:bodyPr wrap="square">
            <a:spAutoFit/>
          </a:bodyPr>
          <a:lstStyle/>
          <a:p>
            <a:pPr>
              <a:spcAft>
                <a:spcPts val="1800"/>
              </a:spcAft>
              <a:defRPr sz="2200" b="0">
                <a:solidFill>
                  <a:srgbClr val="3A4557"/>
                </a:solidFill>
                <a:latin typeface="Calibri"/>
              </a:defRPr>
            </a:pPr>
            <a:r>
              <a:t>A shared evidence contract joins native text, OCR, source locations and quality.</a:t>
            </a:r>
          </a:p>
          <a:p>
            <a:pPr>
              <a:spcAft>
                <a:spcPts val="1800"/>
              </a:spcAft>
              <a:defRPr sz="2200" b="0">
                <a:solidFill>
                  <a:srgbClr val="3A4557"/>
                </a:solidFill>
                <a:latin typeface="Calibri"/>
              </a:defRPr>
            </a:pPr>
            <a:r>
              <a:t>Contextual rules + local NER + validators address different PII failure modes.</a:t>
            </a:r>
          </a:p>
          <a:p>
            <a:pPr>
              <a:spcAft>
                <a:spcPts val="1800"/>
              </a:spcAft>
              <a:defRPr sz="2200" b="0">
                <a:solidFill>
                  <a:srgbClr val="3A4557"/>
                </a:solidFill>
                <a:latin typeface="Calibri"/>
              </a:defRPr>
            </a:pPr>
            <a:r>
              <a:t>Overlap-safe masking and original-span checks reduce partial-value leakage.</a:t>
            </a:r>
          </a:p>
          <a:p>
            <a:pPr>
              <a:spcAft>
                <a:spcPts val="1800"/>
              </a:spcAft>
              <a:defRPr sz="2200" b="0">
                <a:solidFill>
                  <a:srgbClr val="3A4557"/>
                </a:solidFill>
                <a:latin typeface="Calibri"/>
              </a:defRPr>
            </a:pPr>
            <a:r>
              <a:t>The release gate requires both masked content and processing completeness.</a:t>
            </a:r>
          </a:p>
          <a:p>
            <a:pPr>
              <a:spcAft>
                <a:spcPts val="1800"/>
              </a:spcAft>
              <a:defRPr sz="2200" b="0">
                <a:solidFill>
                  <a:srgbClr val="3A4557"/>
                </a:solidFill>
                <a:latin typeface="Calibri"/>
              </a:defRPr>
            </a:pPr>
            <a:r>
              <a:t>Judges can trace a finding to its source and see why export was allowed or blocked.</a:t>
            </a:r>
          </a:p>
        </p:txBody>
      </p:sp>
      <p:sp>
        <p:nvSpPr>
          <p:cNvPr id="9" name="Rectangle 8"/>
          <p:cNvSpPr/>
          <p:nvPr/>
        </p:nvSpPr>
        <p:spPr>
          <a:xfrm>
            <a:off x="0" y="6473952"/>
            <a:ext cx="12191695" cy="384048"/>
          </a:xfrm>
          <a:prstGeom prst="rect">
            <a:avLst/>
          </a:prstGeom>
          <a:solidFill>
            <a:srgbClr val="12284C"/>
          </a:solidFill>
          <a:ln>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92240"/>
            <a:ext cx="10058400" cy="237744"/>
          </a:xfrm>
          <a:prstGeom prst="rect">
            <a:avLst/>
          </a:prstGeom>
          <a:noFill/>
        </p:spPr>
        <p:txBody>
          <a:bodyPr wrap="square">
            <a:spAutoFit/>
          </a:bodyPr>
          <a:lstStyle/>
          <a:p>
            <a:pPr>
              <a:spcAft>
                <a:spcPts val="300"/>
              </a:spcAft>
              <a:defRPr sz="1000" b="0">
                <a:solidFill>
                  <a:srgbClr val="B0B7C3"/>
                </a:solidFill>
                <a:latin typeface="Calibri"/>
              </a:defRPr>
            </a:pPr>
            <a:r>
              <a:t>Caddet | Team 57</a:t>
            </a:r>
          </a:p>
        </p:txBody>
      </p:sp>
      <p:sp>
        <p:nvSpPr>
          <p:cNvPr id="11" name="TextBox 10"/>
          <p:cNvSpPr txBox="1"/>
          <p:nvPr/>
        </p:nvSpPr>
        <p:spPr>
          <a:xfrm>
            <a:off x="11247120" y="6492240"/>
            <a:ext cx="457200" cy="237744"/>
          </a:xfrm>
          <a:prstGeom prst="rect">
            <a:avLst/>
          </a:prstGeom>
          <a:noFill/>
        </p:spPr>
        <p:txBody>
          <a:bodyPr wrap="square">
            <a:spAutoFit/>
          </a:bodyPr>
          <a:lstStyle/>
          <a:p>
            <a:pPr>
              <a:spcAft>
                <a:spcPts val="300"/>
              </a:spcAft>
              <a:defRPr sz="1000" b="0">
                <a:solidFill>
                  <a:srgbClr val="C8A34B"/>
                </a:solidFill>
                <a:latin typeface="Calibri"/>
              </a:defRPr>
            </a:pPr>
            <a: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