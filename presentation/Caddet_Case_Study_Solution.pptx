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04F"/>
                </a:solidFill>
                <a:latin typeface="Calibri"/>
              </a:defRPr>
            </a:pPr>
            <a:r>
              <a:t>Protecting personal data in Caddet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Local extraction, detection, redaction and verification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Case Study 2 | 10-15-minute stakeholder walkthrough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14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566E"/>
                </a:solidFill>
                <a:latin typeface="Calibri"/>
              </a:defRPr>
            </a:pPr>
            <a:r>
              <a:t>Caddet Case Study 2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04F"/>
                </a:solidFill>
                <a:latin typeface="Calibri"/>
              </a:defRPr>
            </a:pPr>
            <a:r>
              <a:t>The requirement and supplied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9 organizational slides: directory, charts and RACI contacts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35 scanned policy pages: prose, tables and screenshots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Training DOCX: 16 tables and 41 media entries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Targets: preserve ≥80% structure/context; approach complete PII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566E"/>
                </a:solidFill>
                <a:latin typeface="Calibri"/>
              </a:defRPr>
            </a:pPr>
            <a:r>
              <a:t>Caddet Case Study 2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04F"/>
                </a:solidFill>
                <a:latin typeface="Calibri"/>
              </a:defRPr>
            </a:pPr>
            <a:r>
              <a:t>Functional solution blueprint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920240"/>
            <a:ext cx="1691640" cy="100584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" y="214884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87D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87168" y="1920240"/>
            <a:ext cx="1691640" cy="100584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78608" y="214884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7096" y="214884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87D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920240"/>
            <a:ext cx="1691640" cy="100584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214884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Extract / OCR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5624" y="214884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87D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920240"/>
            <a:ext cx="1691640" cy="100584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14884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Detect PII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14884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87D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920240"/>
            <a:ext cx="1691640" cy="100584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214884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Mask spans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214884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87D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0" y="1920240"/>
            <a:ext cx="1691640" cy="100584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0" y="214884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Verify / release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576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87D79"/>
                </a:solidFill>
                <a:latin typeface="Calibri"/>
              </a:defRPr>
            </a:pPr>
            <a:r>
              <a:t>Completed checks → sanitized plain-text export</a:t>
            </a:r>
          </a:p>
          <a:p>
            <a:pPr>
              <a:defRPr sz="2500" b="1">
                <a:solidFill>
                  <a:srgbClr val="087D79"/>
                </a:solidFill>
                <a:latin typeface="Calibri"/>
              </a:defRPr>
            </a:pPr>
            <a:r>
              <a:t>Missing, uncertain or residual content → quarantine and local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566E"/>
                </a:solidFill>
                <a:latin typeface="Calibri"/>
              </a:defRPr>
            </a:pPr>
            <a:r>
              <a:t>Caddet Case Study 2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04F"/>
                </a:solidFill>
                <a:latin typeface="Calibri"/>
              </a:defRPr>
            </a:pPr>
            <a:r>
              <a:t>Technical architecture and local boundary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00400" cy="114300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810512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Local upload + session checks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web.py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00400" cy="114300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98848" y="1810512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File checks + manifest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validator.py / runtime.py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00400" cy="114300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8" y="1810512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PDF / OOXML + local OCR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PDFium / Tesseract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520440"/>
            <a:ext cx="3200400" cy="114300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3685032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NER + contextual recognizers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spaCy / comprehensive.py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520440"/>
            <a:ext cx="3200400" cy="114300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3685032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Union spans + stable tokens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redactor.py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3200400" cy="1143000"/>
          </a:xfrm>
          <a:prstGeom prst="roundRect">
            <a:avLst/>
          </a:prstGeom>
          <a:solidFill>
            <a:srgbClr val="15304F"/>
          </a:solidFill>
          <a:ln>
            <a:solidFill>
              <a:srgbClr val="15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685032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Rescan + completeness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gate.py + known spans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87D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87D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840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87D79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840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87D79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2880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87D7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3566E"/>
                </a:solidFill>
                <a:latin typeface="Calibri"/>
              </a:defRPr>
            </a:pPr>
            <a:r>
              <a:t>Normalized blocks + source locations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87D79"/>
                </a:solidFill>
                <a:latin typeface="Calibri"/>
              </a:defRPr>
            </a:pPr>
            <a:r>
              <a:t>Pass → checked plain-text export | otherwise → quarantine + local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43566E"/>
                </a:solidFill>
                <a:latin typeface="Calibri"/>
              </a:defRPr>
            </a:pPr>
            <a:r>
              <a:t>Document-local workers and mappings; public audit reports contain counts and locations.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566E"/>
                </a:solidFill>
                <a:latin typeface="Calibri"/>
              </a:defRPr>
            </a:pPr>
            <a:r>
              <a:t>Caddet Case Study 2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04F"/>
                </a:solidFill>
                <a:latin typeface="Calibri"/>
              </a:defRPr>
            </a:pPr>
            <a:r>
              <a:t>Extraction logic and source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Use native text where available; OCR page images and embedded media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Preserve ordered blocks, table indices, source paths and word boxes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Convert supported SVG and Windows EMF locally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Incomplete OCR or unsupported content becomes a review warning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566E"/>
                </a:solidFill>
                <a:latin typeface="Calibri"/>
              </a:defRPr>
            </a:pPr>
            <a:r>
              <a:t>Caddet Case Study 2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04F"/>
                </a:solidFill>
                <a:latin typeface="Calibri"/>
              </a:defRPr>
            </a:pPr>
            <a:r>
              <a:t>PII detection and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14 text categories, including names, identifiers and financial references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Combine local NER with context, validators and document-local aliases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Count repeated mentions; preserve exact Unicode offsets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Keep business dates, control IDs and currency as negative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566E"/>
                </a:solidFill>
                <a:latin typeface="Calibri"/>
              </a:defRPr>
            </a:pPr>
            <a:r>
              <a:t>Caddet Case Study 2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04F"/>
                </a:solidFill>
                <a:latin typeface="Calibri"/>
              </a:defRPr>
            </a:pPr>
            <a:r>
              <a:t>Redaction and release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Validate spans; mask unions of overlaps from right to left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Use stable typed placeholders within each document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Rescan output and verify known original spans were removed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Block export on incomplete extraction, missing model or unresolved PII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566E"/>
                </a:solidFill>
                <a:latin typeface="Calibri"/>
              </a:defRPr>
            </a:pPr>
            <a:r>
              <a:t>Caddet Case Study 2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04F"/>
                </a:solidFill>
                <a:latin typeface="Calibri"/>
              </a:defRPr>
            </a:pPr>
            <a:r>
              <a:t>Reliable outcomes: evidence and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Regression suite: 288 passed / 288 run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Supplied synthetic text fixture: 18/18 exact matches, no false positives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Real files are processed; OCR review can legitimately block export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Full-source PII recall and ≥80% structure require adjudicated source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566E"/>
                </a:solidFill>
                <a:latin typeface="Calibri"/>
              </a:defRPr>
            </a:pPr>
            <a:r>
              <a:t>Caddet Case Study 2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04F"/>
                </a:solidFill>
                <a:latin typeface="Calibri"/>
              </a:defRPr>
            </a:pPr>
            <a:r>
              <a:t>Live walkthrough: the actual upload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Start: python scripts/run_app.py --port 8765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Upload an actual PPTX, PDF or DOCX and follow stage progress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Inspect counts, locations, masked text and OCR warnings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Show checked-text export for approved jobs and blocked export for review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566E"/>
                </a:solidFill>
                <a:latin typeface="Calibri"/>
              </a:defRPr>
            </a:pPr>
            <a:r>
              <a:t>Caddet Case Study 2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5304F"/>
                </a:solidFill>
                <a:latin typeface="Calibri"/>
              </a:defRPr>
            </a:pPr>
            <a:r>
              <a:t>Team handoff and final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Person 1: lifecycle and architecture | Person 2: extraction evidence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Person 3: recognizers | Person 4: release behavior and UI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Person 5: independent scoring and presentation evidence</a:t>
            </a:r>
          </a:p>
          <a:p>
            <a:pPr>
              <a:defRPr sz="2500" b="0">
                <a:solidFill>
                  <a:srgbClr val="43566E"/>
                </a:solidFill>
                <a:latin typeface="Calibri"/>
              </a:defRPr>
            </a:pPr>
            <a:r>
              <a:t>Text-only output; visual PII and uncertain scans remain a review 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566E"/>
                </a:solidFill>
                <a:latin typeface="Calibri"/>
              </a:defRPr>
            </a:pPr>
            <a:r>
              <a:t>Caddet Case Study 2 |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